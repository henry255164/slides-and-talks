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Lst>
  <p:sldSz cy="5143500" cx="9144000"/>
  <p:notesSz cx="6858000" cy="9144000"/>
  <p:embeddedFontLst>
    <p:embeddedFont>
      <p:font typeface="Economica"/>
      <p:regular r:id="rId65"/>
      <p:bold r:id="rId66"/>
      <p:italic r:id="rId67"/>
      <p:boldItalic r:id="rId6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font" Target="fonts/Economica-bold.fntdata"/><Relationship Id="rId21" Type="http://schemas.openxmlformats.org/officeDocument/2006/relationships/slide" Target="slides/slide16.xml"/><Relationship Id="rId65" Type="http://schemas.openxmlformats.org/officeDocument/2006/relationships/font" Target="fonts/Economica-regular.fntdata"/><Relationship Id="rId24" Type="http://schemas.openxmlformats.org/officeDocument/2006/relationships/slide" Target="slides/slide19.xml"/><Relationship Id="rId68" Type="http://schemas.openxmlformats.org/officeDocument/2006/relationships/font" Target="fonts/Economica-boldItalic.fntdata"/><Relationship Id="rId23" Type="http://schemas.openxmlformats.org/officeDocument/2006/relationships/slide" Target="slides/slide18.xml"/><Relationship Id="rId67" Type="http://schemas.openxmlformats.org/officeDocument/2006/relationships/font" Target="fonts/Economica-italic.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ev.mysql.com/doc/refman/8.4/en/innodb-information-schema-examples.html" TargetMode="External"/><Relationship Id="rId3" Type="http://schemas.openxmlformats.org/officeDocument/2006/relationships/hyperlink" Target="https://dev.mysql.com/doc/refman/8.4/en/performance-schema-data-locks-table.html"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log.jcole.us/2013/01/10/the-physical-structure-of-records-in-innodb/"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7025cf204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7025cf204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f021e672a4_0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f021e672a4_0_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efac94b55f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efac94b55f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efe3e9429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efe3e9429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很多資料庫都會採用BTREE作為主要的索引</a:t>
            </a:r>
            <a:endParaRPr/>
          </a:p>
          <a:p>
            <a:pPr indent="0" lvl="0" marL="0" rtl="0" algn="l">
              <a:spcBef>
                <a:spcPts val="0"/>
              </a:spcBef>
              <a:spcAft>
                <a:spcPts val="0"/>
              </a:spcAft>
              <a:buNone/>
            </a:pPr>
            <a:r>
              <a:rPr lang="zh-TW"/>
              <a:t>優點很適合硬碟的儲存</a:t>
            </a:r>
            <a:endParaRPr/>
          </a:p>
          <a:p>
            <a:pPr indent="0" lvl="0" marL="0" rtl="0" algn="l">
              <a:spcBef>
                <a:spcPts val="0"/>
              </a:spcBef>
              <a:spcAft>
                <a:spcPts val="0"/>
              </a:spcAft>
              <a:buNone/>
            </a:pPr>
            <a:r>
              <a:rPr lang="zh-TW"/>
              <a:t>最頂層是root</a:t>
            </a:r>
            <a:endParaRPr/>
          </a:p>
          <a:p>
            <a:pPr indent="0" lvl="0" marL="0" rtl="0" algn="l">
              <a:spcBef>
                <a:spcPts val="0"/>
              </a:spcBef>
              <a:spcAft>
                <a:spcPts val="0"/>
              </a:spcAft>
              <a:buNone/>
            </a:pPr>
            <a:r>
              <a:rPr lang="zh-TW"/>
              <a:t>跟下面其他綠色 我們稱之為 non-leaf node</a:t>
            </a:r>
            <a:endParaRPr/>
          </a:p>
          <a:p>
            <a:pPr indent="0" lvl="0" marL="0" rtl="0" algn="l">
              <a:spcBef>
                <a:spcPts val="0"/>
              </a:spcBef>
              <a:spcAft>
                <a:spcPts val="0"/>
              </a:spcAft>
              <a:buNone/>
            </a:pPr>
            <a:r>
              <a:rPr lang="zh-TW"/>
              <a:t>紅色我們會稱之為 葉 節點 </a:t>
            </a:r>
            <a:r>
              <a:rPr lang="zh-TW">
                <a:solidFill>
                  <a:schemeClr val="dk1"/>
                </a:solidFill>
              </a:rPr>
              <a:t>leaf node</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之所以會拿來做資料庫的架構</a:t>
            </a:r>
            <a:endParaRPr/>
          </a:p>
          <a:p>
            <a:pPr indent="0" lvl="0" marL="0" rtl="0" algn="l">
              <a:spcBef>
                <a:spcPts val="0"/>
              </a:spcBef>
              <a:spcAft>
                <a:spcPts val="0"/>
              </a:spcAft>
              <a:buNone/>
            </a:pPr>
            <a:r>
              <a:rPr lang="zh-TW"/>
              <a:t>優點就是二分法查找</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再來 所有 </a:t>
            </a:r>
            <a:r>
              <a:rPr lang="zh-TW">
                <a:solidFill>
                  <a:schemeClr val="dk1"/>
                </a:solidFill>
              </a:rPr>
              <a:t>leaf node 高度相等，這是一個很重要的特性</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f021e672a4_0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f021e672a4_0_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efe3e9429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efe3e9429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Mysql </a:t>
            </a:r>
            <a:r>
              <a:rPr lang="zh-TW"/>
              <a:t>使用這種 B+Tree</a:t>
            </a:r>
            <a:endParaRPr/>
          </a:p>
          <a:p>
            <a:pPr indent="0" lvl="0" marL="0" rtl="0" algn="l">
              <a:spcBef>
                <a:spcPts val="0"/>
              </a:spcBef>
              <a:spcAft>
                <a:spcPts val="0"/>
              </a:spcAft>
              <a:buNone/>
            </a:pPr>
            <a:r>
              <a:rPr lang="zh-TW"/>
              <a:t>非常簡化的B+Tree，僅作為表示指針</a:t>
            </a:r>
            <a:r>
              <a:rPr lang="zh-TW">
                <a:solidFill>
                  <a:schemeClr val="dk1"/>
                </a:solidFill>
              </a:rPr>
              <a:t>方向</a:t>
            </a:r>
            <a:r>
              <a:rPr lang="zh-TW"/>
              <a:t>參考圖示</a:t>
            </a:r>
            <a:endParaRPr/>
          </a:p>
          <a:p>
            <a:pPr indent="0" lvl="0" marL="0" rtl="0" algn="l">
              <a:spcBef>
                <a:spcPts val="0"/>
              </a:spcBef>
              <a:spcAft>
                <a:spcPts val="0"/>
              </a:spcAft>
              <a:buNone/>
            </a:pPr>
            <a:r>
              <a:rPr lang="zh-TW"/>
              <a:t>我們可以看到他有 Infimum 最小數 supremum 最大數</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有分 Root 階層 Internal 階層 Leaf 階層</a:t>
            </a:r>
            <a:endParaRPr/>
          </a:p>
          <a:p>
            <a:pPr indent="0" lvl="0" marL="0" rtl="0" algn="l">
              <a:spcBef>
                <a:spcPts val="0"/>
              </a:spcBef>
              <a:spcAft>
                <a:spcPts val="0"/>
              </a:spcAft>
              <a:buNone/>
            </a:pPr>
            <a:r>
              <a:rPr lang="zh-TW"/>
              <a:t>在同一階層內又有"雙向"的鏈結</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此外Leaf階層擁有 "</a:t>
            </a:r>
            <a:r>
              <a:rPr lang="zh-TW">
                <a:solidFill>
                  <a:schemeClr val="dk1"/>
                </a:solidFill>
              </a:rPr>
              <a:t>1~ 7</a:t>
            </a:r>
            <a:r>
              <a:rPr lang="zh-TW"/>
              <a:t>所有的紀錄" </a:t>
            </a:r>
            <a:endParaRPr/>
          </a:p>
          <a:p>
            <a:pPr indent="0" lvl="0" marL="0" rtl="0" algn="l">
              <a:spcBef>
                <a:spcPts val="0"/>
              </a:spcBef>
              <a:spcAft>
                <a:spcPts val="0"/>
              </a:spcAft>
              <a:buNone/>
            </a:pPr>
            <a:r>
              <a:rPr lang="zh-TW"/>
              <a:t>還有非索引的 ABCDEFGH</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f021e672a4_0_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f021e672a4_0_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efac94b55f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efac94b55f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f021e672a4_0_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f021e672a4_0_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f021e672a4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f021e672a4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ef87c48af4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ef87c48af4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ef87c48af4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ef87c48af4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555555"/>
              </a:buClr>
              <a:buSzPts val="1400"/>
              <a:buFont typeface="Cambria"/>
              <a:buAutoNum type="arabicPeriod"/>
            </a:pPr>
            <a:r>
              <a:rPr lang="zh-TW" sz="1400">
                <a:solidFill>
                  <a:srgbClr val="555555"/>
                </a:solidFill>
                <a:latin typeface="Cambria"/>
                <a:ea typeface="Cambria"/>
                <a:cs typeface="Cambria"/>
                <a:sym typeface="Cambria"/>
              </a:rPr>
              <a:t>row_id 佔據 6 byte 不需要時不存在</a:t>
            </a:r>
            <a:endParaRPr sz="1400">
              <a:solidFill>
                <a:srgbClr val="555555"/>
              </a:solidFill>
              <a:latin typeface="Cambria"/>
              <a:ea typeface="Cambria"/>
              <a:cs typeface="Cambria"/>
              <a:sym typeface="Cambria"/>
            </a:endParaRPr>
          </a:p>
          <a:p>
            <a:pPr indent="-317500" lvl="0" marL="457200" rtl="0" algn="l">
              <a:lnSpc>
                <a:spcPct val="115000"/>
              </a:lnSpc>
              <a:spcBef>
                <a:spcPts val="0"/>
              </a:spcBef>
              <a:spcAft>
                <a:spcPts val="0"/>
              </a:spcAft>
              <a:buClr>
                <a:srgbClr val="555555"/>
              </a:buClr>
              <a:buSzPts val="1400"/>
              <a:buFont typeface="Cambria"/>
              <a:buAutoNum type="arabicPeriod"/>
            </a:pPr>
            <a:r>
              <a:rPr lang="zh-TW" sz="1400">
                <a:solidFill>
                  <a:srgbClr val="555555"/>
                </a:solidFill>
                <a:latin typeface="Cambria"/>
                <a:ea typeface="Cambria"/>
                <a:cs typeface="Cambria"/>
                <a:sym typeface="Cambria"/>
              </a:rPr>
              <a:t>row_id 跟其他表共用，所以同一張表內可能跳號, ex 1,7,11,27,28 .. </a:t>
            </a:r>
            <a:endParaRPr sz="1400">
              <a:solidFill>
                <a:srgbClr val="555555"/>
              </a:solidFill>
              <a:latin typeface="Cambria"/>
              <a:ea typeface="Cambria"/>
              <a:cs typeface="Cambria"/>
              <a:sym typeface="Cambria"/>
            </a:endParaRPr>
          </a:p>
          <a:p>
            <a:pPr indent="-317500" lvl="0" marL="457200" rtl="0" algn="l">
              <a:lnSpc>
                <a:spcPct val="115000"/>
              </a:lnSpc>
              <a:spcBef>
                <a:spcPts val="0"/>
              </a:spcBef>
              <a:spcAft>
                <a:spcPts val="0"/>
              </a:spcAft>
              <a:buClr>
                <a:srgbClr val="555555"/>
              </a:buClr>
              <a:buSzPts val="1400"/>
              <a:buFont typeface="Cambria"/>
              <a:buAutoNum type="arabicPeriod"/>
            </a:pPr>
            <a:r>
              <a:rPr lang="zh-TW" sz="1400">
                <a:solidFill>
                  <a:srgbClr val="555555"/>
                </a:solidFill>
                <a:latin typeface="Cambria"/>
                <a:ea typeface="Cambria"/>
                <a:cs typeface="Cambria"/>
                <a:sym typeface="Cambria"/>
              </a:rPr>
              <a:t>不存在的數字會在其他表上，但同一張表中必定是由小到大</a:t>
            </a:r>
            <a:endParaRPr sz="1400">
              <a:solidFill>
                <a:srgbClr val="555555"/>
              </a:solidFill>
              <a:latin typeface="Cambria"/>
              <a:ea typeface="Cambria"/>
              <a:cs typeface="Cambria"/>
              <a:sym typeface="Cambria"/>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f021e672a4_0_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f021e672a4_0_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f021e672a4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f021e672a4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ef87c48af4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ef87c48af4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zh-TW"/>
              <a:t>硬碟是非常慢的，節省IO成本，磁盤下次要轉到這可能要一段時間</a:t>
            </a:r>
            <a:endParaRPr/>
          </a:p>
          <a:p>
            <a:pPr indent="-298450" lvl="0" marL="457200" rtl="0" algn="l">
              <a:spcBef>
                <a:spcPts val="0"/>
              </a:spcBef>
              <a:spcAft>
                <a:spcPts val="0"/>
              </a:spcAft>
              <a:buSzPts val="1100"/>
              <a:buAutoNum type="arabicPeriod"/>
            </a:pPr>
            <a:r>
              <a:rPr lang="zh-TW"/>
              <a:t>context switch </a:t>
            </a:r>
            <a:endParaRPr/>
          </a:p>
          <a:p>
            <a:pPr indent="-298450" lvl="0" marL="457200" rtl="0" algn="l">
              <a:spcBef>
                <a:spcPts val="0"/>
              </a:spcBef>
              <a:spcAft>
                <a:spcPts val="0"/>
              </a:spcAft>
              <a:buSzPts val="1100"/>
              <a:buAutoNum type="arabicPeriod"/>
            </a:pPr>
            <a:r>
              <a:rPr lang="zh-TW"/>
              <a:t>相近的資料高機率會接著被查詢使用</a:t>
            </a:r>
            <a:endParaRPr/>
          </a:p>
          <a:p>
            <a:pPr indent="-298450" lvl="0" marL="457200" rtl="0" algn="l">
              <a:spcBef>
                <a:spcPts val="0"/>
              </a:spcBef>
              <a:spcAft>
                <a:spcPts val="0"/>
              </a:spcAft>
              <a:buSzPts val="1100"/>
              <a:buAutoNum type="arabicPeriod"/>
            </a:pPr>
            <a:r>
              <a:rPr lang="zh-TW"/>
              <a:t>linux 讀取單位為 4KiB</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efe3e9429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efe3e9429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child page number </a:t>
            </a:r>
            <a:r>
              <a:rPr lang="zh-TW"/>
              <a:t>用來作唯一值</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Transaction ID  DB_TRX_ID 交易事務 ID 你可以想成版本號，此外 對應 data-lock table 也是用來持有不同 Lock ( next-key, gap, table, ) 的權限，</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information schema</a:t>
            </a:r>
            <a:endParaRPr/>
          </a:p>
          <a:p>
            <a:pPr indent="0" lvl="0" marL="0" rtl="0" algn="l">
              <a:spcBef>
                <a:spcPts val="0"/>
              </a:spcBef>
              <a:spcAft>
                <a:spcPts val="0"/>
              </a:spcAft>
              <a:buNone/>
            </a:pPr>
            <a:r>
              <a:rPr lang="zh-TW" u="sng">
                <a:solidFill>
                  <a:schemeClr val="hlink"/>
                </a:solidFill>
                <a:hlinkClick r:id="rId2"/>
              </a:rPr>
              <a:t>https://dev.mysql.com/doc/refman/8.4/en/innodb-information-schema-examples.html</a:t>
            </a:r>
            <a:endParaRPr/>
          </a:p>
          <a:p>
            <a:pPr indent="0" lvl="0" marL="0" rtl="0" algn="l">
              <a:spcBef>
                <a:spcPts val="0"/>
              </a:spcBef>
              <a:spcAft>
                <a:spcPts val="0"/>
              </a:spcAft>
              <a:buNone/>
            </a:pPr>
            <a:r>
              <a:rPr lang="zh-TW" u="sng">
                <a:solidFill>
                  <a:schemeClr val="hlink"/>
                </a:solidFill>
                <a:hlinkClick r:id="rId3"/>
              </a:rPr>
              <a:t>https://dev.mysql.com/doc/refman/8.4/en/performance-schema-data-locks-table.html</a:t>
            </a:r>
            <a:endParaRPr/>
          </a:p>
          <a:p>
            <a:pPr indent="0" lvl="0" marL="0" rtl="0" algn="l">
              <a:spcBef>
                <a:spcPts val="0"/>
              </a:spcBef>
              <a:spcAft>
                <a:spcPts val="0"/>
              </a:spcAft>
              <a:buNone/>
            </a:pPr>
            <a:br>
              <a:rPr lang="zh-TW"/>
            </a:br>
            <a:r>
              <a:rPr lang="zh-TW">
                <a:solidFill>
                  <a:schemeClr val="dk1"/>
                </a:solidFill>
              </a:rPr>
              <a:t>Roll Pointer DB_ROLL_PTR 用來查找 Undo log 做資料回滾的</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6 位元 DB_TRX_ID 組欄位指示插入或更新該行的最後一個交易的事務識別碼。此外，刪除在內部被視為更新，其中設定行中的特殊位元以將其標記為已刪除。</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DB_ROLL_PTR稱為滾動指標的 7 位元組欄位。回滾指標指向寫入回滾段的撤銷日誌記錄。如果該行已更新，則撤銷日誌記錄包含在更新之前重建該行內容所需的資訊。</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6 位元DB_ROW_ID組欄位包含一個行 ID，該行 ID 隨著新行的插入而單調增加。如果 InnoDB自動產生聚集索引，則該索引包含行 ID 值。否則，該 DB_ROW_ID列不會出現在任何索引中。</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zh-TW"/>
              <a:t>Non-Key 存其他資料，已經作為 primrary key 的就不會在裡面了</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大大超出的部分會紀錄位址，指向實際資料存在的其它 pages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zh-TW">
                <a:solidFill>
                  <a:schemeClr val="dk1"/>
                </a:solidFill>
              </a:rPr>
              <a:t>為什麼是 Pages 呢？</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f021e672a4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f021e672a4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sz="1350">
                <a:solidFill>
                  <a:srgbClr val="252525"/>
                </a:solidFill>
              </a:rPr>
              <a:t>m_ids ：指的是創建 Read View 時，當前資料庫中「活躍事務」的事務 id 列表，注意是一個列表，「活躍事務」指的就是，啟動了但還沒提交的事務。 </a:t>
            </a:r>
            <a:endParaRPr sz="1350">
              <a:solidFill>
                <a:srgbClr val="252525"/>
              </a:solidFill>
            </a:endParaRPr>
          </a:p>
          <a:p>
            <a:pPr indent="0" lvl="0" marL="0" rtl="0" algn="l">
              <a:spcBef>
                <a:spcPts val="0"/>
              </a:spcBef>
              <a:spcAft>
                <a:spcPts val="0"/>
              </a:spcAft>
              <a:buNone/>
            </a:pPr>
            <a:r>
              <a:rPr lang="zh-TW" sz="1350">
                <a:solidFill>
                  <a:srgbClr val="252525"/>
                </a:solidFill>
              </a:rPr>
              <a:t>min_trx_id ：指的是建立 Read View 時，目前資料庫中「活躍事務」中事務 id 最小的事務，也就是 m_ids 的最小值。 </a:t>
            </a:r>
            <a:endParaRPr sz="1350">
              <a:solidFill>
                <a:srgbClr val="252525"/>
              </a:solidFill>
            </a:endParaRPr>
          </a:p>
          <a:p>
            <a:pPr indent="0" lvl="0" marL="0" rtl="0" algn="l">
              <a:spcBef>
                <a:spcPts val="0"/>
              </a:spcBef>
              <a:spcAft>
                <a:spcPts val="0"/>
              </a:spcAft>
              <a:buNone/>
            </a:pPr>
            <a:r>
              <a:rPr lang="zh-TW" sz="1350">
                <a:solidFill>
                  <a:srgbClr val="252525"/>
                </a:solidFill>
              </a:rPr>
              <a:t>max_trx_id ：這不是 m_ids 的最大值，而是創建 Read View 時當前資料庫中應該給下一個事務的 id 值，也就是全域事務中最大的事務 id 值 + 1； </a:t>
            </a:r>
            <a:endParaRPr sz="1350">
              <a:solidFill>
                <a:srgbClr val="252525"/>
              </a:solidFill>
            </a:endParaRPr>
          </a:p>
          <a:p>
            <a:pPr indent="0" lvl="0" marL="0" rtl="0" algn="l">
              <a:spcBef>
                <a:spcPts val="0"/>
              </a:spcBef>
              <a:spcAft>
                <a:spcPts val="0"/>
              </a:spcAft>
              <a:buNone/>
            </a:pPr>
            <a:r>
              <a:rPr lang="zh-TW" sz="1350">
                <a:solidFill>
                  <a:srgbClr val="252525"/>
                </a:solidFill>
              </a:rPr>
              <a:t>creator_trx_id ：指的是建立該 Read View 的事務的事務 id。</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f021e672a4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f021e672a4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ef87c48af4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ef87c48af4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zh-TW"/>
              <a:t>聚集密鑰葉頁至少需要 5 個位元組的標頭、6 個位元組的事務 ID 和 7 個位元組的滾動指針，總共每行 18 個位元組。對於非常窄的表（例如 2-3 個整數），此開銷可能相當高。</a:t>
            </a:r>
            <a:endParaRPr/>
          </a:p>
          <a:p>
            <a:pPr indent="0" lvl="0" marL="0" rtl="0" algn="l">
              <a:spcBef>
                <a:spcPts val="0"/>
              </a:spcBef>
              <a:spcAft>
                <a:spcPts val="0"/>
              </a:spcAft>
              <a:buClr>
                <a:schemeClr val="dk1"/>
              </a:buClr>
              <a:buSzPts val="1100"/>
              <a:buFont typeface="Arial"/>
              <a:buNone/>
            </a:pPr>
            <a:r>
              <a:rPr lang="zh-TW"/>
              <a:t>此外，還存在大量的每頁開銷，以及低效填充頁面的浪費，這可能會消耗大量空間（例如頁面可能是半填充的）。</a:t>
            </a:r>
            <a:endParaRPr/>
          </a:p>
          <a:p>
            <a:pPr indent="0" lvl="0" marL="0" rtl="0" algn="l">
              <a:spcBef>
                <a:spcPts val="0"/>
              </a:spcBef>
              <a:spcAft>
                <a:spcPts val="0"/>
              </a:spcAft>
              <a:buNone/>
            </a:pPr>
            <a:r>
              <a:rPr lang="zh-TW" u="sng">
                <a:solidFill>
                  <a:schemeClr val="hlink"/>
                </a:solidFill>
                <a:hlinkClick r:id="rId2"/>
              </a:rPr>
              <a:t>https://blog.jcole.us/2013/01/10/the-physical-structure-of-records-in-innodb/</a:t>
            </a:r>
            <a:endParaRPr/>
          </a:p>
          <a:p>
            <a:pPr indent="0" lvl="0" marL="0" rtl="0" algn="l">
              <a:spcBef>
                <a:spcPts val="0"/>
              </a:spcBef>
              <a:spcAft>
                <a:spcPts val="0"/>
              </a:spcAft>
              <a:buNone/>
            </a:pPr>
            <a:r>
              <a:t/>
            </a:r>
            <a:endParaRPr/>
          </a:p>
          <a:p>
            <a:pPr indent="0" lvl="0" marL="0" rtl="0" algn="l">
              <a:lnSpc>
                <a:spcPct val="95000"/>
              </a:lnSpc>
              <a:spcBef>
                <a:spcPts val="0"/>
              </a:spcBef>
              <a:spcAft>
                <a:spcPts val="0"/>
              </a:spcAft>
              <a:buClr>
                <a:schemeClr val="dk1"/>
              </a:buClr>
              <a:buSzPts val="1100"/>
              <a:buFont typeface="Arial"/>
              <a:buNone/>
            </a:pPr>
            <a:r>
              <a:rPr lang="zh-TW" sz="1400">
                <a:solidFill>
                  <a:srgbClr val="555555"/>
                </a:solidFill>
                <a:latin typeface="Cambria"/>
                <a:ea typeface="Cambria"/>
                <a:cs typeface="Cambria"/>
                <a:sym typeface="Cambria"/>
              </a:rPr>
              <a:t>因為所有二級索引預設都會在最後加上叢集索引</a:t>
            </a:r>
            <a:endParaRPr sz="1400">
              <a:solidFill>
                <a:srgbClr val="555555"/>
              </a:solidFill>
              <a:latin typeface="Cambria"/>
              <a:ea typeface="Cambria"/>
              <a:cs typeface="Cambria"/>
              <a:sym typeface="Cambria"/>
            </a:endParaRPr>
          </a:p>
          <a:p>
            <a:pPr indent="0" lvl="0" marL="0" rtl="0" algn="l">
              <a:lnSpc>
                <a:spcPct val="95000"/>
              </a:lnSpc>
              <a:spcBef>
                <a:spcPts val="1200"/>
              </a:spcBef>
              <a:spcAft>
                <a:spcPts val="0"/>
              </a:spcAft>
              <a:buClr>
                <a:schemeClr val="dk1"/>
              </a:buClr>
              <a:buSzPts val="1100"/>
              <a:buFont typeface="Arial"/>
              <a:buNone/>
            </a:pPr>
            <a:r>
              <a:rPr lang="zh-TW" sz="1400">
                <a:solidFill>
                  <a:srgbClr val="555555"/>
                </a:solidFill>
                <a:latin typeface="Cambria"/>
                <a:ea typeface="Cambria"/>
                <a:cs typeface="Cambria"/>
                <a:sym typeface="Cambria"/>
              </a:rPr>
              <a:t>所以盡量不要太複雜或使用太大的型別</a:t>
            </a:r>
            <a:endParaRPr sz="1400">
              <a:solidFill>
                <a:srgbClr val="555555"/>
              </a:solidFill>
              <a:latin typeface="Cambria"/>
              <a:ea typeface="Cambria"/>
              <a:cs typeface="Cambria"/>
              <a:sym typeface="Cambria"/>
            </a:endParaRPr>
          </a:p>
          <a:p>
            <a:pPr indent="0" lvl="0" marL="0" rtl="0" algn="l">
              <a:lnSpc>
                <a:spcPct val="95000"/>
              </a:lnSpc>
              <a:spcBef>
                <a:spcPts val="1200"/>
              </a:spcBef>
              <a:spcAft>
                <a:spcPts val="0"/>
              </a:spcAft>
              <a:buClr>
                <a:schemeClr val="dk1"/>
              </a:buClr>
              <a:buSzPts val="1100"/>
              <a:buFont typeface="Arial"/>
              <a:buNone/>
            </a:pPr>
            <a:r>
              <a:rPr lang="zh-TW" sz="1400">
                <a:solidFill>
                  <a:srgbClr val="555555"/>
                </a:solidFill>
                <a:latin typeface="Cambria"/>
                <a:ea typeface="Cambria"/>
                <a:cs typeface="Cambria"/>
                <a:sym typeface="Cambria"/>
              </a:rPr>
              <a:t>不要使用無序字串(ex: 舊版的UUID) ，無序寫入時會造成過多預留空間，導致分頁過多</a:t>
            </a:r>
            <a:endParaRPr sz="1400">
              <a:solidFill>
                <a:srgbClr val="555555"/>
              </a:solidFill>
              <a:latin typeface="Cambria"/>
              <a:ea typeface="Cambria"/>
              <a:cs typeface="Cambria"/>
              <a:sym typeface="Cambria"/>
            </a:endParaRPr>
          </a:p>
          <a:p>
            <a:pPr indent="0" lvl="0" marL="0" rtl="0" algn="l">
              <a:lnSpc>
                <a:spcPct val="95000"/>
              </a:lnSpc>
              <a:spcBef>
                <a:spcPts val="1200"/>
              </a:spcBef>
              <a:spcAft>
                <a:spcPts val="0"/>
              </a:spcAft>
              <a:buClr>
                <a:schemeClr val="dk1"/>
              </a:buClr>
              <a:buSzPts val="1100"/>
              <a:buFont typeface="Arial"/>
              <a:buNone/>
            </a:pPr>
            <a:r>
              <a:t/>
            </a:r>
            <a:endParaRPr sz="1400">
              <a:solidFill>
                <a:srgbClr val="555555"/>
              </a:solidFill>
              <a:latin typeface="Cambria"/>
              <a:ea typeface="Cambria"/>
              <a:cs typeface="Cambria"/>
              <a:sym typeface="Cambria"/>
            </a:endParaRPr>
          </a:p>
          <a:p>
            <a:pPr indent="0" lvl="0" marL="0" rtl="0" algn="l">
              <a:lnSpc>
                <a:spcPct val="95000"/>
              </a:lnSpc>
              <a:spcBef>
                <a:spcPts val="1200"/>
              </a:spcBef>
              <a:spcAft>
                <a:spcPts val="1200"/>
              </a:spcAft>
              <a:buClr>
                <a:schemeClr val="dk1"/>
              </a:buClr>
              <a:buSzPts val="1100"/>
              <a:buFont typeface="Arial"/>
              <a:buNone/>
            </a:pPr>
            <a:r>
              <a:rPr lang="zh-TW" sz="1400">
                <a:solidFill>
                  <a:srgbClr val="555555"/>
                </a:solidFill>
                <a:latin typeface="Cambria"/>
                <a:ea typeface="Cambria"/>
                <a:cs typeface="Cambria"/>
                <a:sym typeface="Cambria"/>
              </a:rPr>
              <a:t>建議採用新增自動增量列 (auto_increment)來代理 Primary key</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ef87c48af4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ef87c48af4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sz="1350">
                <a:solidFill>
                  <a:srgbClr val="252525"/>
                </a:solidFill>
              </a:rPr>
              <a:t>B+樹每層節點都是依照索引列的值從小到大的順序排序而組成了雙向鍊錶。</a:t>
            </a:r>
            <a:endParaRPr sz="1350">
              <a:solidFill>
                <a:srgbClr val="252525"/>
              </a:solidFill>
            </a:endParaRPr>
          </a:p>
          <a:p>
            <a:pPr indent="0" lvl="0" marL="0" rtl="0" algn="l">
              <a:spcBef>
                <a:spcPts val="0"/>
              </a:spcBef>
              <a:spcAft>
                <a:spcPts val="0"/>
              </a:spcAft>
              <a:buNone/>
            </a:pPr>
            <a:r>
              <a:t/>
            </a:r>
            <a:endParaRPr sz="1350">
              <a:solidFill>
                <a:srgbClr val="252525"/>
              </a:solidFill>
            </a:endParaRPr>
          </a:p>
          <a:p>
            <a:pPr indent="0" lvl="0" marL="0" rtl="0" algn="l">
              <a:spcBef>
                <a:spcPts val="0"/>
              </a:spcBef>
              <a:spcAft>
                <a:spcPts val="0"/>
              </a:spcAft>
              <a:buNone/>
            </a:pPr>
            <a:r>
              <a:rPr lang="zh-TW" sz="1350">
                <a:solidFill>
                  <a:srgbClr val="252525"/>
                </a:solidFill>
              </a:rPr>
              <a:t>不論是葉子節點中的記錄，還是內節點中的記錄（也就是不論是使用者記錄還是目錄項記錄）都是按照索引列的值從小到大的順序而形成了一個單向鍊錶。</a:t>
            </a:r>
            <a:endParaRPr sz="1350">
              <a:solidFill>
                <a:srgbClr val="252525"/>
              </a:solidFill>
            </a:endParaRPr>
          </a:p>
          <a:p>
            <a:pPr indent="0" lvl="0" marL="0" rtl="0" algn="l">
              <a:spcBef>
                <a:spcPts val="0"/>
              </a:spcBef>
              <a:spcAft>
                <a:spcPts val="0"/>
              </a:spcAft>
              <a:buNone/>
            </a:pPr>
            <a:r>
              <a:t/>
            </a:r>
            <a:endParaRPr sz="1350">
              <a:solidFill>
                <a:srgbClr val="252525"/>
              </a:solidFill>
            </a:endParaRPr>
          </a:p>
          <a:p>
            <a:pPr indent="0" lvl="0" marL="0" rtl="0" algn="l">
              <a:spcBef>
                <a:spcPts val="0"/>
              </a:spcBef>
              <a:spcAft>
                <a:spcPts val="0"/>
              </a:spcAft>
              <a:buNone/>
            </a:pPr>
            <a:r>
              <a:rPr lang="zh-TW" sz="1350">
                <a:solidFill>
                  <a:srgbClr val="252525"/>
                </a:solidFill>
              </a:rPr>
              <a:t>而增、刪、改操作可能會對節點和記錄的排序造成破壞，所以儲存引擎需要額外的時間進行一些記錄移位，頁面分割、頁面回收什麼的操作來維護好節點和記錄的排序。</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efac94b55f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efac94b55f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ef87c48af4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ef87c48af4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efac94b55f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efac94b55f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f021e672a4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2f021e672a4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f021e672a4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2f021e672a4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efac94b55f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2efac94b55f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efac94b55f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2efac94b55f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f021e672a4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f021e672a4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ＡＢＣＤ E 你認爲哪些應該加入 index 的欄位</a:t>
            </a:r>
            <a:endParaRPr/>
          </a:p>
          <a:p>
            <a:pPr indent="0" lvl="0" marL="0" rtl="0" algn="l">
              <a:spcBef>
                <a:spcPts val="0"/>
              </a:spcBef>
              <a:spcAft>
                <a:spcPts val="0"/>
              </a:spcAft>
              <a:buNone/>
            </a:pPr>
            <a:r>
              <a:rPr lang="zh-TW"/>
              <a:t>GROUP BY ，ORDER BY 應該擺在最後 省下排序的成本 與分組的成本</a:t>
            </a:r>
            <a:endParaRPr/>
          </a:p>
          <a:p>
            <a:pPr indent="0" lvl="0" marL="0" rtl="0" algn="l">
              <a:spcBef>
                <a:spcPts val="0"/>
              </a:spcBef>
              <a:spcAft>
                <a:spcPts val="0"/>
              </a:spcAft>
              <a:buNone/>
            </a:pPr>
            <a:r>
              <a:rPr lang="zh-TW"/>
              <a:t>WHERE 條件 也要看是否存在 OR 條件，與是否可做到覆蓋索引</a:t>
            </a:r>
            <a:endParaRPr/>
          </a:p>
          <a:p>
            <a:pPr indent="0" lvl="0" marL="0" rtl="0" algn="l">
              <a:spcBef>
                <a:spcPts val="0"/>
              </a:spcBef>
              <a:spcAft>
                <a:spcPts val="0"/>
              </a:spcAft>
              <a:buClr>
                <a:schemeClr val="dk1"/>
              </a:buClr>
              <a:buSzPts val="1100"/>
              <a:buFont typeface="Arial"/>
              <a:buNone/>
            </a:pPr>
            <a:r>
              <a:rPr lang="zh-TW">
                <a:solidFill>
                  <a:schemeClr val="dk1"/>
                </a:solidFill>
              </a:rPr>
              <a:t>Having 通常會使用 Function 使排序失效 ，不然其實跟 WHERE 一樣</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排除 SELECT</a:t>
            </a:r>
            <a:endParaRPr/>
          </a:p>
          <a:p>
            <a:pPr indent="0" lvl="0" marL="0" rtl="0" algn="l">
              <a:spcBef>
                <a:spcPts val="0"/>
              </a:spcBef>
              <a:spcAft>
                <a:spcPts val="0"/>
              </a:spcAft>
              <a:buNone/>
            </a:pPr>
            <a:r>
              <a:rPr lang="zh-TW"/>
              <a:t>index 主要是用來定位資料，如果納入 </a:t>
            </a:r>
            <a:r>
              <a:rPr lang="zh-TW"/>
              <a:t>SELECT 會造成維護負擔，雖然不需要回表，但已經有 PK 的情況下效益不大，且容易干涉排序也佔據快取空間。</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當同時存在兩個 二級索引 可以使用怎麼辦呢？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efac94b55f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2efac94b55f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https://dev.mysql.com/doc/refman/8.0/en/information-schema-statistics-table.html</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efac94b55f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efac94b55f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f021e672a4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2f021e672a4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f021e672a4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2f021e672a4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2f021e672a4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2f021e672a4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f021e672a4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2f021e672a4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Primrary Key 同時也會在二級索引，所以</a:t>
            </a:r>
            <a:r>
              <a:rPr lang="zh-TW">
                <a:solidFill>
                  <a:schemeClr val="dk1"/>
                </a:solidFill>
              </a:rPr>
              <a:t>Primrary Key 就不會是 no_key_col</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f021e672a4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2f021e672a4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f021e672a4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2f021e672a4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f021e672a4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2f021e672a4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ef87c48af4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2ef87c48af4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2ef87c48af4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2ef87c48af4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f021e672a4_0_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2f021e672a4_0_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zh-TW"/>
              <a:t>你說我只用第一排序，第二排的</a:t>
            </a:r>
            <a:r>
              <a:rPr lang="zh-TW"/>
              <a:t>用 primrary </a:t>
            </a:r>
            <a:r>
              <a:rPr lang="zh-TW"/>
              <a:t>行不行，不行！ 因為我們要的 PK 在 最底層。就算你用索引下推，其實也不划算</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ef87c48af4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2ef87c48af4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後面兩個情況可以使用正確的索引排序來避免</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f021e672a4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2f021e672a4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2f021e672a4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2f021e672a4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https://dev.mysql.com/doc/refman/8.3/en/invisible-indexes.html</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2f021e672a4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2f021e672a4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https://dev.mysql.com/doc/refman/8.0/en/index-condition-pushdown-optimization.html</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2f021e672a4_0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2f021e672a4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f021e672a4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2f021e672a4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2f021e672a4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2f021e672a4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2f021e672a4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2f021e672a4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2f021e672a4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2f021e672a4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2f021e672a4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2f021e672a4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2f021e672a4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2f021e672a4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2f021e672a4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2f021e672a4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2f021e672a4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2f021e672a4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但資料放在Disk速度很慢啊，什麼情況下放到記憶體呢?</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2f021e672a4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2f021e672a4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2f021e672a4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2f021e672a4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2f021e672a4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2f021e672a4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2f021e672a4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2f021e672a4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須注意部分記憶體使用量是基於連線數量等比增加</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2f021e672a4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2f021e672a4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Font typeface="Cambria"/>
              <a:buNone/>
              <a:defRPr>
                <a:latin typeface="Cambria"/>
                <a:ea typeface="Cambria"/>
                <a:cs typeface="Cambria"/>
                <a:sym typeface="Cambria"/>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ctr" bIns="91425" lIns="91425" spcFirstLastPara="1" rIns="91425" wrap="square" tIns="91425">
            <a:normAutofit/>
          </a:bodyPr>
          <a:lstStyle>
            <a:lvl1pPr indent="-317500" lvl="0" marL="457200">
              <a:spcBef>
                <a:spcPts val="0"/>
              </a:spcBef>
              <a:spcAft>
                <a:spcPts val="0"/>
              </a:spcAft>
              <a:buClr>
                <a:srgbClr val="555555"/>
              </a:buClr>
              <a:buSzPts val="1400"/>
              <a:buChar char="●"/>
              <a:defRPr sz="1400">
                <a:solidFill>
                  <a:srgbClr val="555555"/>
                </a:solidFill>
              </a:defRPr>
            </a:lvl1pPr>
            <a:lvl2pPr indent="-317500" lvl="1" marL="914400" rtl="0">
              <a:spcBef>
                <a:spcPts val="0"/>
              </a:spcBef>
              <a:spcAft>
                <a:spcPts val="0"/>
              </a:spcAft>
              <a:buClr>
                <a:srgbClr val="555555"/>
              </a:buClr>
              <a:buSzPts val="1400"/>
              <a:buChar char="○"/>
              <a:defRPr>
                <a:solidFill>
                  <a:srgbClr val="555555"/>
                </a:solidFill>
              </a:defRPr>
            </a:lvl2pPr>
            <a:lvl3pPr indent="-317500" lvl="2" marL="1371600" rtl="0">
              <a:spcBef>
                <a:spcPts val="0"/>
              </a:spcBef>
              <a:spcAft>
                <a:spcPts val="0"/>
              </a:spcAft>
              <a:buClr>
                <a:srgbClr val="555555"/>
              </a:buClr>
              <a:buSzPts val="1400"/>
              <a:buChar char="■"/>
              <a:defRPr>
                <a:solidFill>
                  <a:srgbClr val="555555"/>
                </a:solidFill>
              </a:defRPr>
            </a:lvl3pPr>
            <a:lvl4pPr indent="-317500" lvl="3" marL="1828800" rtl="0">
              <a:spcBef>
                <a:spcPts val="0"/>
              </a:spcBef>
              <a:spcAft>
                <a:spcPts val="0"/>
              </a:spcAft>
              <a:buClr>
                <a:srgbClr val="555555"/>
              </a:buClr>
              <a:buSzPts val="1400"/>
              <a:buChar char="●"/>
              <a:defRPr>
                <a:solidFill>
                  <a:srgbClr val="555555"/>
                </a:solidFill>
              </a:defRPr>
            </a:lvl4pPr>
            <a:lvl5pPr indent="-317500" lvl="4" marL="2286000" rtl="0">
              <a:spcBef>
                <a:spcPts val="0"/>
              </a:spcBef>
              <a:spcAft>
                <a:spcPts val="0"/>
              </a:spcAft>
              <a:buClr>
                <a:srgbClr val="555555"/>
              </a:buClr>
              <a:buSzPts val="1400"/>
              <a:buChar char="○"/>
              <a:defRPr>
                <a:solidFill>
                  <a:srgbClr val="555555"/>
                </a:solidFill>
              </a:defRPr>
            </a:lvl5pPr>
            <a:lvl6pPr indent="-317500" lvl="5" marL="2743200" rtl="0">
              <a:spcBef>
                <a:spcPts val="0"/>
              </a:spcBef>
              <a:spcAft>
                <a:spcPts val="0"/>
              </a:spcAft>
              <a:buClr>
                <a:srgbClr val="555555"/>
              </a:buClr>
              <a:buSzPts val="1400"/>
              <a:buChar char="■"/>
              <a:defRPr>
                <a:solidFill>
                  <a:srgbClr val="555555"/>
                </a:solidFill>
              </a:defRPr>
            </a:lvl6pPr>
            <a:lvl7pPr indent="-317500" lvl="6" marL="3200400" rtl="0">
              <a:spcBef>
                <a:spcPts val="0"/>
              </a:spcBef>
              <a:spcAft>
                <a:spcPts val="0"/>
              </a:spcAft>
              <a:buClr>
                <a:srgbClr val="555555"/>
              </a:buClr>
              <a:buSzPts val="1400"/>
              <a:buChar char="●"/>
              <a:defRPr>
                <a:solidFill>
                  <a:srgbClr val="555555"/>
                </a:solidFill>
              </a:defRPr>
            </a:lvl7pPr>
            <a:lvl8pPr indent="-317500" lvl="7" marL="3657600" rtl="0">
              <a:spcBef>
                <a:spcPts val="0"/>
              </a:spcBef>
              <a:spcAft>
                <a:spcPts val="0"/>
              </a:spcAft>
              <a:buClr>
                <a:srgbClr val="555555"/>
              </a:buClr>
              <a:buSzPts val="1400"/>
              <a:buChar char="○"/>
              <a:defRPr>
                <a:solidFill>
                  <a:srgbClr val="555555"/>
                </a:solidFill>
              </a:defRPr>
            </a:lvl8pPr>
            <a:lvl9pPr indent="-317500" lvl="8" marL="4114800" rtl="0">
              <a:spcBef>
                <a:spcPts val="0"/>
              </a:spcBef>
              <a:spcAft>
                <a:spcPts val="0"/>
              </a:spcAft>
              <a:buClr>
                <a:srgbClr val="555555"/>
              </a:buClr>
              <a:buSzPts val="1400"/>
              <a:buChar char="■"/>
              <a:defRPr>
                <a:solidFill>
                  <a:srgbClr val="555555"/>
                </a:solidFill>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4200"/>
              <a:buFont typeface="Cambria"/>
              <a:buNone/>
              <a:defRPr sz="4200">
                <a:solidFill>
                  <a:schemeClr val="dk1"/>
                </a:solidFill>
                <a:latin typeface="Cambria"/>
                <a:ea typeface="Cambria"/>
                <a:cs typeface="Cambria"/>
                <a:sym typeface="Cambri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Cambria"/>
              <a:buChar char="●"/>
              <a:defRPr sz="1800">
                <a:solidFill>
                  <a:schemeClr val="dk1"/>
                </a:solidFill>
                <a:latin typeface="Cambria"/>
                <a:ea typeface="Cambria"/>
                <a:cs typeface="Cambria"/>
                <a:sym typeface="Cambria"/>
              </a:defRPr>
            </a:lvl1pPr>
            <a:lvl2pPr indent="-317500" lvl="1" marL="914400">
              <a:lnSpc>
                <a:spcPct val="115000"/>
              </a:lnSpc>
              <a:spcBef>
                <a:spcPts val="0"/>
              </a:spcBef>
              <a:spcAft>
                <a:spcPts val="0"/>
              </a:spcAft>
              <a:buClr>
                <a:schemeClr val="dk1"/>
              </a:buClr>
              <a:buSzPts val="1400"/>
              <a:buFont typeface="Cambria"/>
              <a:buChar char="○"/>
              <a:defRPr>
                <a:solidFill>
                  <a:schemeClr val="dk1"/>
                </a:solidFill>
                <a:latin typeface="Cambria"/>
                <a:ea typeface="Cambria"/>
                <a:cs typeface="Cambria"/>
                <a:sym typeface="Cambria"/>
              </a:defRPr>
            </a:lvl2pPr>
            <a:lvl3pPr indent="-317500" lvl="2" marL="1371600">
              <a:lnSpc>
                <a:spcPct val="115000"/>
              </a:lnSpc>
              <a:spcBef>
                <a:spcPts val="0"/>
              </a:spcBef>
              <a:spcAft>
                <a:spcPts val="0"/>
              </a:spcAft>
              <a:buClr>
                <a:schemeClr val="dk1"/>
              </a:buClr>
              <a:buSzPts val="1400"/>
              <a:buFont typeface="Cambria"/>
              <a:buChar char="■"/>
              <a:defRPr>
                <a:solidFill>
                  <a:schemeClr val="dk1"/>
                </a:solidFill>
                <a:latin typeface="Cambria"/>
                <a:ea typeface="Cambria"/>
                <a:cs typeface="Cambria"/>
                <a:sym typeface="Cambria"/>
              </a:defRPr>
            </a:lvl3pPr>
            <a:lvl4pPr indent="-317500" lvl="3" marL="1828800">
              <a:lnSpc>
                <a:spcPct val="115000"/>
              </a:lnSpc>
              <a:spcBef>
                <a:spcPts val="0"/>
              </a:spcBef>
              <a:spcAft>
                <a:spcPts val="0"/>
              </a:spcAft>
              <a:buClr>
                <a:schemeClr val="dk1"/>
              </a:buClr>
              <a:buSzPts val="1400"/>
              <a:buFont typeface="Cambria"/>
              <a:buChar char="●"/>
              <a:defRPr>
                <a:solidFill>
                  <a:schemeClr val="dk1"/>
                </a:solidFill>
                <a:latin typeface="Cambria"/>
                <a:ea typeface="Cambria"/>
                <a:cs typeface="Cambria"/>
                <a:sym typeface="Cambria"/>
              </a:defRPr>
            </a:lvl4pPr>
            <a:lvl5pPr indent="-317500" lvl="4" marL="2286000">
              <a:lnSpc>
                <a:spcPct val="115000"/>
              </a:lnSpc>
              <a:spcBef>
                <a:spcPts val="0"/>
              </a:spcBef>
              <a:spcAft>
                <a:spcPts val="0"/>
              </a:spcAft>
              <a:buClr>
                <a:schemeClr val="dk1"/>
              </a:buClr>
              <a:buSzPts val="1400"/>
              <a:buFont typeface="Cambria"/>
              <a:buChar char="○"/>
              <a:defRPr>
                <a:solidFill>
                  <a:schemeClr val="dk1"/>
                </a:solidFill>
                <a:latin typeface="Cambria"/>
                <a:ea typeface="Cambria"/>
                <a:cs typeface="Cambria"/>
                <a:sym typeface="Cambria"/>
              </a:defRPr>
            </a:lvl5pPr>
            <a:lvl6pPr indent="-317500" lvl="5" marL="2743200">
              <a:lnSpc>
                <a:spcPct val="115000"/>
              </a:lnSpc>
              <a:spcBef>
                <a:spcPts val="0"/>
              </a:spcBef>
              <a:spcAft>
                <a:spcPts val="0"/>
              </a:spcAft>
              <a:buClr>
                <a:schemeClr val="dk1"/>
              </a:buClr>
              <a:buSzPts val="1400"/>
              <a:buFont typeface="Cambria"/>
              <a:buChar char="■"/>
              <a:defRPr>
                <a:solidFill>
                  <a:schemeClr val="dk1"/>
                </a:solidFill>
                <a:latin typeface="Cambria"/>
                <a:ea typeface="Cambria"/>
                <a:cs typeface="Cambria"/>
                <a:sym typeface="Cambria"/>
              </a:defRPr>
            </a:lvl6pPr>
            <a:lvl7pPr indent="-317500" lvl="6" marL="3200400">
              <a:lnSpc>
                <a:spcPct val="115000"/>
              </a:lnSpc>
              <a:spcBef>
                <a:spcPts val="0"/>
              </a:spcBef>
              <a:spcAft>
                <a:spcPts val="0"/>
              </a:spcAft>
              <a:buClr>
                <a:schemeClr val="dk1"/>
              </a:buClr>
              <a:buSzPts val="1400"/>
              <a:buFont typeface="Cambria"/>
              <a:buChar char="●"/>
              <a:defRPr>
                <a:solidFill>
                  <a:schemeClr val="dk1"/>
                </a:solidFill>
                <a:latin typeface="Cambria"/>
                <a:ea typeface="Cambria"/>
                <a:cs typeface="Cambria"/>
                <a:sym typeface="Cambria"/>
              </a:defRPr>
            </a:lvl7pPr>
            <a:lvl8pPr indent="-317500" lvl="7" marL="3657600">
              <a:lnSpc>
                <a:spcPct val="115000"/>
              </a:lnSpc>
              <a:spcBef>
                <a:spcPts val="0"/>
              </a:spcBef>
              <a:spcAft>
                <a:spcPts val="0"/>
              </a:spcAft>
              <a:buClr>
                <a:schemeClr val="dk1"/>
              </a:buClr>
              <a:buSzPts val="1400"/>
              <a:buFont typeface="Cambria"/>
              <a:buChar char="○"/>
              <a:defRPr>
                <a:solidFill>
                  <a:schemeClr val="dk1"/>
                </a:solidFill>
                <a:latin typeface="Cambria"/>
                <a:ea typeface="Cambria"/>
                <a:cs typeface="Cambria"/>
                <a:sym typeface="Cambria"/>
              </a:defRPr>
            </a:lvl8pPr>
            <a:lvl9pPr indent="-317500" lvl="8" marL="4114800">
              <a:lnSpc>
                <a:spcPct val="115000"/>
              </a:lnSpc>
              <a:spcBef>
                <a:spcPts val="0"/>
              </a:spcBef>
              <a:spcAft>
                <a:spcPts val="0"/>
              </a:spcAft>
              <a:buClr>
                <a:schemeClr val="dk1"/>
              </a:buClr>
              <a:buSzPts val="1400"/>
              <a:buFont typeface="Cambria"/>
              <a:buChar char="■"/>
              <a:defRPr>
                <a:solidFill>
                  <a:schemeClr val="dk1"/>
                </a:solidFill>
                <a:latin typeface="Cambria"/>
                <a:ea typeface="Cambria"/>
                <a:cs typeface="Cambria"/>
                <a:sym typeface="Cambri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8.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3.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9.png"/><Relationship Id="rId4"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5.png"/><Relationship Id="rId4" Type="http://schemas.openxmlformats.org/officeDocument/2006/relationships/image" Target="../media/image1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2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2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hyperlink" Target="https://dev.mysql.com/doc/" TargetMode="External"/><Relationship Id="rId4" Type="http://schemas.openxmlformats.org/officeDocument/2006/relationships/hyperlink" Target="https://zhuanlan.zhihu.com/p/559481619" TargetMode="External"/><Relationship Id="rId11" Type="http://schemas.openxmlformats.org/officeDocument/2006/relationships/hyperlink" Target="https://relph1119.github.io/mysql-learning-notes/#/" TargetMode="External"/><Relationship Id="rId10" Type="http://schemas.openxmlformats.org/officeDocument/2006/relationships/hyperlink" Target="https://mp.weixin.qq.com/s?__biz=MjM5ODYxMDA5OQ==&amp;mid=2651962875&amp;idx=1&amp;sn=c6b3e7dc8a41609cfe070026bd27b71d" TargetMode="External"/><Relationship Id="rId9" Type="http://schemas.openxmlformats.org/officeDocument/2006/relationships/hyperlink" Target="http://www.unofficialmysqlguide.com/" TargetMode="External"/><Relationship Id="rId5" Type="http://schemas.openxmlformats.org/officeDocument/2006/relationships/hyperlink" Target="https://www.slideshare.net/andyao/mysql-index" TargetMode="External"/><Relationship Id="rId6" Type="http://schemas.openxmlformats.org/officeDocument/2006/relationships/hyperlink" Target="https://blog.bytebytego.com/p/database-indexing-strategies" TargetMode="External"/><Relationship Id="rId7" Type="http://schemas.openxmlformats.org/officeDocument/2006/relationships/hyperlink" Target="https://xiaolincoding.com/" TargetMode="External"/><Relationship Id="rId8" Type="http://schemas.openxmlformats.org/officeDocument/2006/relationships/hyperlink" Target="https://blog.jcole.us/innodb/"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1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hyperlink" Target="http://www.mysqlcalculator.com"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3044700" y="1444255"/>
            <a:ext cx="3054600" cy="15372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zh-TW"/>
              <a:t>MySQL</a:t>
            </a:r>
            <a:endParaRPr/>
          </a:p>
          <a:p>
            <a:pPr indent="0" lvl="0" marL="0" rtl="0" algn="ctr">
              <a:spcBef>
                <a:spcPts val="0"/>
              </a:spcBef>
              <a:spcAft>
                <a:spcPts val="0"/>
              </a:spcAft>
              <a:buNone/>
            </a:pPr>
            <a:r>
              <a:rPr lang="zh-TW"/>
              <a:t>InnoDB Index</a:t>
            </a:r>
            <a:endParaRPr/>
          </a:p>
        </p:txBody>
      </p:sp>
      <p:sp>
        <p:nvSpPr>
          <p:cNvPr id="63" name="Google Shape;63;p13"/>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zh-TW"/>
              <a:t>henry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idx="1" type="body"/>
          </p:nvPr>
        </p:nvSpPr>
        <p:spPr>
          <a:xfrm>
            <a:off x="311700" y="1225225"/>
            <a:ext cx="8520600" cy="3354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zh-TW" sz="1700"/>
              <a:t>蕭大俠 - </a:t>
            </a:r>
            <a:r>
              <a:rPr lang="zh-TW" sz="1700"/>
              <a:t>henry</a:t>
            </a:r>
            <a:endParaRPr sz="1700"/>
          </a:p>
          <a:p>
            <a:pPr indent="0" lvl="0" marL="0" rtl="0" algn="l">
              <a:spcBef>
                <a:spcPts val="1200"/>
              </a:spcBef>
              <a:spcAft>
                <a:spcPts val="0"/>
              </a:spcAft>
              <a:buNone/>
            </a:pPr>
            <a:r>
              <a:rPr lang="zh-TW" sz="1700"/>
              <a:t>大約 </a:t>
            </a:r>
            <a:r>
              <a:rPr lang="zh-TW" sz="1700"/>
              <a:t>8 年</a:t>
            </a:r>
            <a:r>
              <a:rPr lang="zh-TW" sz="1700"/>
              <a:t>後端工程師經歷</a:t>
            </a:r>
            <a:endParaRPr sz="1700"/>
          </a:p>
          <a:p>
            <a:pPr indent="0" lvl="0" marL="0" rtl="0" algn="l">
              <a:spcBef>
                <a:spcPts val="1200"/>
              </a:spcBef>
              <a:spcAft>
                <a:spcPts val="1200"/>
              </a:spcAft>
              <a:buNone/>
            </a:pPr>
            <a:r>
              <a:rPr lang="zh-TW" sz="1700"/>
              <a:t>現任職於:          Zerologix 擔任資深後端工程師</a:t>
            </a:r>
            <a:endParaRPr sz="1700"/>
          </a:p>
        </p:txBody>
      </p:sp>
      <p:sp>
        <p:nvSpPr>
          <p:cNvPr id="69" name="Google Shape;69;p1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About me</a:t>
            </a:r>
            <a:endParaRPr/>
          </a:p>
        </p:txBody>
      </p:sp>
      <p:pic>
        <p:nvPicPr>
          <p:cNvPr id="70" name="Google Shape;70;p14"/>
          <p:cNvPicPr preferRelativeResize="0"/>
          <p:nvPr/>
        </p:nvPicPr>
        <p:blipFill>
          <a:blip r:embed="rId3">
            <a:alphaModFix/>
          </a:blip>
          <a:stretch>
            <a:fillRect/>
          </a:stretch>
        </p:blipFill>
        <p:spPr>
          <a:xfrm>
            <a:off x="1450621" y="3226821"/>
            <a:ext cx="282360" cy="282375"/>
          </a:xfrm>
          <a:prstGeom prst="rect">
            <a:avLst/>
          </a:prstGeom>
          <a:noFill/>
          <a:ln>
            <a:noFill/>
          </a:ln>
        </p:spPr>
      </p:pic>
      <p:pic>
        <p:nvPicPr>
          <p:cNvPr id="71" name="Google Shape;71;p14"/>
          <p:cNvPicPr preferRelativeResize="0"/>
          <p:nvPr/>
        </p:nvPicPr>
        <p:blipFill>
          <a:blip r:embed="rId4">
            <a:alphaModFix/>
          </a:blip>
          <a:stretch>
            <a:fillRect/>
          </a:stretch>
        </p:blipFill>
        <p:spPr>
          <a:xfrm>
            <a:off x="6202525" y="1951400"/>
            <a:ext cx="2077075" cy="15577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A</a:t>
            </a:r>
            <a:r>
              <a:rPr lang="zh-TW"/>
              <a:t>genda </a:t>
            </a:r>
            <a:endParaRPr/>
          </a:p>
        </p:txBody>
      </p:sp>
      <p:sp>
        <p:nvSpPr>
          <p:cNvPr id="77" name="Google Shape;77;p15"/>
          <p:cNvSpPr txBox="1"/>
          <p:nvPr>
            <p:ph idx="1" type="body"/>
          </p:nvPr>
        </p:nvSpPr>
        <p:spPr>
          <a:xfrm>
            <a:off x="311700" y="1225225"/>
            <a:ext cx="8520600" cy="3354000"/>
          </a:xfrm>
          <a:prstGeom prst="rect">
            <a:avLst/>
          </a:prstGeom>
        </p:spPr>
        <p:txBody>
          <a:bodyPr anchorCtr="0" anchor="ctr" bIns="91425" lIns="91425" spcFirstLastPara="1" rIns="91425" wrap="square" tIns="91425">
            <a:normAutofit/>
          </a:bodyPr>
          <a:lstStyle/>
          <a:p>
            <a:pPr indent="-317500" lvl="0" marL="457200" rtl="0" algn="l">
              <a:spcBef>
                <a:spcPts val="0"/>
              </a:spcBef>
              <a:spcAft>
                <a:spcPts val="0"/>
              </a:spcAft>
              <a:buSzPts val="1400"/>
              <a:buChar char="●"/>
            </a:pPr>
            <a:r>
              <a:rPr lang="zh-TW"/>
              <a:t>演算法架構</a:t>
            </a:r>
            <a:endParaRPr/>
          </a:p>
          <a:p>
            <a:pPr indent="-317500" lvl="0" marL="457200" rtl="0" algn="l">
              <a:spcBef>
                <a:spcPts val="0"/>
              </a:spcBef>
              <a:spcAft>
                <a:spcPts val="0"/>
              </a:spcAft>
              <a:buSzPts val="1400"/>
              <a:buChar char="●"/>
            </a:pPr>
            <a:r>
              <a:rPr lang="zh-TW"/>
              <a:t>叢集索引</a:t>
            </a:r>
            <a:endParaRPr/>
          </a:p>
          <a:p>
            <a:pPr indent="-317500" lvl="0" marL="457200" rtl="0" algn="l">
              <a:spcBef>
                <a:spcPts val="0"/>
              </a:spcBef>
              <a:spcAft>
                <a:spcPts val="0"/>
              </a:spcAft>
              <a:buSzPts val="1400"/>
              <a:buChar char="●"/>
            </a:pPr>
            <a:r>
              <a:rPr lang="zh-TW"/>
              <a:t>二級索引</a:t>
            </a:r>
            <a:endParaRPr/>
          </a:p>
          <a:p>
            <a:pPr indent="-317500" lvl="0" marL="457200" rtl="0" algn="l">
              <a:spcBef>
                <a:spcPts val="0"/>
              </a:spcBef>
              <a:spcAft>
                <a:spcPts val="0"/>
              </a:spcAft>
              <a:buSzPts val="1400"/>
              <a:buChar char="●"/>
            </a:pPr>
            <a:r>
              <a:rPr lang="zh-TW"/>
              <a:t>MySQL 怎麼選擇索引</a:t>
            </a:r>
            <a:endParaRPr/>
          </a:p>
          <a:p>
            <a:pPr indent="-317500" lvl="0" marL="457200" rtl="0" algn="l">
              <a:spcBef>
                <a:spcPts val="0"/>
              </a:spcBef>
              <a:spcAft>
                <a:spcPts val="0"/>
              </a:spcAft>
              <a:buSzPts val="1400"/>
              <a:buChar char="●"/>
            </a:pPr>
            <a:r>
              <a:rPr lang="zh-TW"/>
              <a:t>二級索引在哪些情況可能會失效呢？</a:t>
            </a:r>
            <a:endParaRPr/>
          </a:p>
          <a:p>
            <a:pPr indent="-317500" lvl="0" marL="457200" rtl="0" algn="l">
              <a:spcBef>
                <a:spcPts val="0"/>
              </a:spcBef>
              <a:spcAft>
                <a:spcPts val="0"/>
              </a:spcAft>
              <a:buSzPts val="1400"/>
              <a:buChar char="●"/>
            </a:pPr>
            <a:r>
              <a:rPr lang="zh-TW"/>
              <a:t>Index 優化查詢的背後原因</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zh-TW"/>
              <a:t>索引</a:t>
            </a:r>
            <a:r>
              <a:rPr lang="zh-TW"/>
              <a:t>架構</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B-TREE</a:t>
            </a:r>
            <a:endParaRPr/>
          </a:p>
        </p:txBody>
      </p:sp>
      <p:pic>
        <p:nvPicPr>
          <p:cNvPr id="88" name="Google Shape;88;p17"/>
          <p:cNvPicPr preferRelativeResize="0"/>
          <p:nvPr/>
        </p:nvPicPr>
        <p:blipFill>
          <a:blip r:embed="rId3">
            <a:alphaModFix/>
          </a:blip>
          <a:stretch>
            <a:fillRect/>
          </a:stretch>
        </p:blipFill>
        <p:spPr>
          <a:xfrm>
            <a:off x="567000" y="1268725"/>
            <a:ext cx="8654401" cy="2743775"/>
          </a:xfrm>
          <a:prstGeom prst="rect">
            <a:avLst/>
          </a:prstGeom>
          <a:noFill/>
          <a:ln>
            <a:noFill/>
          </a:ln>
        </p:spPr>
      </p:pic>
      <p:sp>
        <p:nvSpPr>
          <p:cNvPr id="89" name="Google Shape;89;p17"/>
          <p:cNvSpPr txBox="1"/>
          <p:nvPr/>
        </p:nvSpPr>
        <p:spPr>
          <a:xfrm>
            <a:off x="2986875" y="1319350"/>
            <a:ext cx="830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800">
                <a:solidFill>
                  <a:schemeClr val="dk1"/>
                </a:solidFill>
                <a:latin typeface="Cambria"/>
                <a:ea typeface="Cambria"/>
                <a:cs typeface="Cambria"/>
                <a:sym typeface="Cambria"/>
              </a:rPr>
              <a:t>Root</a:t>
            </a:r>
            <a:endParaRPr sz="1800">
              <a:solidFill>
                <a:schemeClr val="dk1"/>
              </a:solidFill>
              <a:latin typeface="Cambria"/>
              <a:ea typeface="Cambria"/>
              <a:cs typeface="Cambria"/>
              <a:sym typeface="Cambria"/>
            </a:endParaRPr>
          </a:p>
        </p:txBody>
      </p:sp>
      <p:sp>
        <p:nvSpPr>
          <p:cNvPr id="90" name="Google Shape;90;p17"/>
          <p:cNvSpPr txBox="1"/>
          <p:nvPr/>
        </p:nvSpPr>
        <p:spPr>
          <a:xfrm>
            <a:off x="-62925" y="3493475"/>
            <a:ext cx="1103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800">
                <a:solidFill>
                  <a:schemeClr val="dk1"/>
                </a:solidFill>
                <a:latin typeface="Cambria"/>
                <a:ea typeface="Cambria"/>
                <a:cs typeface="Cambria"/>
                <a:sym typeface="Cambria"/>
              </a:rPr>
              <a:t>Leaf</a:t>
            </a:r>
            <a:endParaRPr sz="1800">
              <a:solidFill>
                <a:schemeClr val="dk1"/>
              </a:solidFill>
              <a:latin typeface="Cambria"/>
              <a:ea typeface="Cambria"/>
              <a:cs typeface="Cambria"/>
              <a:sym typeface="Cambri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B Tree</a:t>
            </a:r>
            <a:endParaRPr/>
          </a:p>
        </p:txBody>
      </p:sp>
      <p:sp>
        <p:nvSpPr>
          <p:cNvPr id="96" name="Google Shape;96;p18"/>
          <p:cNvSpPr txBox="1"/>
          <p:nvPr>
            <p:ph idx="1" type="body"/>
          </p:nvPr>
        </p:nvSpPr>
        <p:spPr>
          <a:xfrm>
            <a:off x="311700" y="1225225"/>
            <a:ext cx="8520600" cy="3354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zh-TW"/>
              <a:t>有分 - Root 階層 - Internal 階層 - Leaf 階層</a:t>
            </a:r>
            <a:endParaRPr/>
          </a:p>
          <a:p>
            <a:pPr indent="0" lvl="0" marL="0" rtl="0" algn="l">
              <a:spcBef>
                <a:spcPts val="1200"/>
              </a:spcBef>
              <a:spcAft>
                <a:spcPts val="0"/>
              </a:spcAft>
              <a:buClr>
                <a:schemeClr val="dk1"/>
              </a:buClr>
              <a:buSzPts val="1100"/>
              <a:buFont typeface="Arial"/>
              <a:buNone/>
            </a:pPr>
            <a:r>
              <a:rPr lang="zh-TW"/>
              <a:t>其中 Leaf 階層等高</a:t>
            </a:r>
            <a:endParaRPr/>
          </a:p>
          <a:p>
            <a:pPr indent="0" lvl="0" marL="0" rtl="0" algn="l">
              <a:spcBef>
                <a:spcPts val="1200"/>
              </a:spcBef>
              <a:spcAft>
                <a:spcPts val="0"/>
              </a:spcAft>
              <a:buClr>
                <a:schemeClr val="dk1"/>
              </a:buClr>
              <a:buSzPts val="1100"/>
              <a:buFont typeface="Arial"/>
              <a:buNone/>
            </a:pPr>
            <a:r>
              <a:rPr lang="zh-TW"/>
              <a:t>2 分法查找，時間複雜度為 Log(n)</a:t>
            </a:r>
            <a:endParaRPr/>
          </a:p>
          <a:p>
            <a:pPr indent="0" lvl="0" marL="0" rtl="0" algn="l">
              <a:spcBef>
                <a:spcPts val="1200"/>
              </a:spcBef>
              <a:spcAft>
                <a:spcPts val="1200"/>
              </a:spcAft>
              <a:buNone/>
            </a:pPr>
            <a:r>
              <a:rPr lang="zh-TW"/>
              <a:t>已排序，左邊node一定 (小/大) 於右邊</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102" name="Google Shape;102;p19"/>
          <p:cNvSpPr txBox="1"/>
          <p:nvPr>
            <p:ph idx="1" type="body"/>
          </p:nvPr>
        </p:nvSpPr>
        <p:spPr>
          <a:xfrm>
            <a:off x="311700" y="1225225"/>
            <a:ext cx="8520600" cy="33540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t/>
            </a:r>
            <a:endParaRPr/>
          </a:p>
        </p:txBody>
      </p:sp>
      <p:pic>
        <p:nvPicPr>
          <p:cNvPr id="103" name="Google Shape;103;p19"/>
          <p:cNvPicPr preferRelativeResize="0"/>
          <p:nvPr/>
        </p:nvPicPr>
        <p:blipFill rotWithShape="1">
          <a:blip r:embed="rId3">
            <a:alphaModFix/>
          </a:blip>
          <a:srcRect b="18387" l="0" r="0" t="0"/>
          <a:stretch/>
        </p:blipFill>
        <p:spPr>
          <a:xfrm>
            <a:off x="417801" y="0"/>
            <a:ext cx="8414505" cy="51434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B+tree</a:t>
            </a:r>
            <a:endParaRPr/>
          </a:p>
        </p:txBody>
      </p:sp>
      <p:sp>
        <p:nvSpPr>
          <p:cNvPr id="109" name="Google Shape;109;p20"/>
          <p:cNvSpPr txBox="1"/>
          <p:nvPr>
            <p:ph idx="1" type="body"/>
          </p:nvPr>
        </p:nvSpPr>
        <p:spPr>
          <a:xfrm>
            <a:off x="311700" y="1225225"/>
            <a:ext cx="8520600" cy="3354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zh-TW"/>
              <a:t>Infimum 紀錄最小數 supremum 紀錄最大數</a:t>
            </a:r>
            <a:endParaRPr/>
          </a:p>
          <a:p>
            <a:pPr indent="0" lvl="0" marL="0" rtl="0" algn="l">
              <a:spcBef>
                <a:spcPts val="1200"/>
              </a:spcBef>
              <a:spcAft>
                <a:spcPts val="0"/>
              </a:spcAft>
              <a:buClr>
                <a:schemeClr val="dk1"/>
              </a:buClr>
              <a:buSzPts val="1100"/>
              <a:buFont typeface="Arial"/>
              <a:buNone/>
            </a:pPr>
            <a:r>
              <a:rPr lang="zh-TW"/>
              <a:t>Leaf 階層擁有所有的 key (1 ~ 7) 與 非索引的資料 (ABCDE..)</a:t>
            </a:r>
            <a:endParaRPr/>
          </a:p>
          <a:p>
            <a:pPr indent="0" lvl="0" marL="0" rtl="0" algn="l">
              <a:spcBef>
                <a:spcPts val="1200"/>
              </a:spcBef>
              <a:spcAft>
                <a:spcPts val="0"/>
              </a:spcAft>
              <a:buClr>
                <a:schemeClr val="dk1"/>
              </a:buClr>
              <a:buSzPts val="1100"/>
              <a:buFont typeface="Arial"/>
              <a:buNone/>
            </a:pPr>
            <a:r>
              <a:rPr lang="zh-TW"/>
              <a:t>在同一階層內又有"雙向"的鏈結，因此可以透過 Leaf 節點由小到大依序找出所有的資料</a:t>
            </a:r>
            <a:endParaRPr/>
          </a:p>
          <a:p>
            <a:pPr indent="0" lvl="0" marL="0" rtl="0" algn="l">
              <a:spcBef>
                <a:spcPts val="1200"/>
              </a:spcBef>
              <a:spcAft>
                <a:spcPts val="1200"/>
              </a:spcAft>
              <a:buNone/>
            </a:pPr>
            <a:r>
              <a:rPr lang="zh-TW"/>
              <a:t>在 leaf node 的資料已經排序，取出的資料也會是排序過的。</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zh-TW"/>
              <a:t>叢集索引 (clustered index)</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22"/>
          <p:cNvPicPr preferRelativeResize="0"/>
          <p:nvPr/>
        </p:nvPicPr>
        <p:blipFill>
          <a:blip r:embed="rId3">
            <a:alphaModFix/>
          </a:blip>
          <a:stretch>
            <a:fillRect/>
          </a:stretch>
        </p:blipFill>
        <p:spPr>
          <a:xfrm>
            <a:off x="2296800" y="315925"/>
            <a:ext cx="4223500" cy="44304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3"/>
          <p:cNvPicPr preferRelativeResize="0"/>
          <p:nvPr/>
        </p:nvPicPr>
        <p:blipFill>
          <a:blip r:embed="rId3">
            <a:alphaModFix/>
          </a:blip>
          <a:stretch>
            <a:fillRect/>
          </a:stretch>
        </p:blipFill>
        <p:spPr>
          <a:xfrm>
            <a:off x="152400" y="1002925"/>
            <a:ext cx="8839200" cy="33896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叢集索引 clustered index</a:t>
            </a:r>
            <a:endParaRPr/>
          </a:p>
        </p:txBody>
      </p:sp>
      <p:sp>
        <p:nvSpPr>
          <p:cNvPr id="130" name="Google Shape;130;p24"/>
          <p:cNvSpPr txBox="1"/>
          <p:nvPr>
            <p:ph idx="1" type="body"/>
          </p:nvPr>
        </p:nvSpPr>
        <p:spPr>
          <a:xfrm>
            <a:off x="311700" y="1225225"/>
            <a:ext cx="7827900" cy="3354000"/>
          </a:xfrm>
          <a:prstGeom prst="rect">
            <a:avLst/>
          </a:prstGeom>
        </p:spPr>
        <p:txBody>
          <a:bodyPr anchorCtr="0" anchor="ctr" bIns="91425" lIns="91425" spcFirstLastPara="1" rIns="91425" wrap="square" tIns="91425">
            <a:noAutofit/>
          </a:bodyPr>
          <a:lstStyle/>
          <a:p>
            <a:pPr indent="0" lvl="0" marL="0" rtl="0" algn="l">
              <a:lnSpc>
                <a:spcPct val="175000"/>
              </a:lnSpc>
              <a:spcBef>
                <a:spcPts val="0"/>
              </a:spcBef>
              <a:spcAft>
                <a:spcPts val="1100"/>
              </a:spcAft>
              <a:buNone/>
            </a:pPr>
            <a:r>
              <a:rPr lang="zh-TW" sz="1500">
                <a:highlight>
                  <a:srgbClr val="FFFFFF"/>
                </a:highlight>
              </a:rPr>
              <a:t>每張 innodb 必定存在 clustered index 用來實際存放資料</a:t>
            </a:r>
            <a:endParaRPr sz="1500">
              <a:highlight>
                <a:srgbClr val="FFFFFF"/>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5"/>
          <p:cNvSpPr txBox="1"/>
          <p:nvPr>
            <p:ph type="title"/>
          </p:nvPr>
        </p:nvSpPr>
        <p:spPr>
          <a:xfrm>
            <a:off x="311700" y="648875"/>
            <a:ext cx="8520600" cy="759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zh-TW"/>
              <a:t>InnoDB </a:t>
            </a:r>
            <a:r>
              <a:rPr lang="zh-TW"/>
              <a:t>叢集</a:t>
            </a:r>
            <a:r>
              <a:rPr lang="zh-TW"/>
              <a:t>索引的選擇</a:t>
            </a:r>
            <a:endParaRPr/>
          </a:p>
        </p:txBody>
      </p:sp>
      <p:sp>
        <p:nvSpPr>
          <p:cNvPr id="136" name="Google Shape;136;p25"/>
          <p:cNvSpPr txBox="1"/>
          <p:nvPr>
            <p:ph idx="1" type="body"/>
          </p:nvPr>
        </p:nvSpPr>
        <p:spPr>
          <a:xfrm>
            <a:off x="311700" y="1211275"/>
            <a:ext cx="8520600" cy="3354000"/>
          </a:xfrm>
          <a:prstGeom prst="rect">
            <a:avLst/>
          </a:prstGeom>
        </p:spPr>
        <p:txBody>
          <a:bodyPr anchorCtr="0" anchor="ctr" bIns="91425" lIns="91425" spcFirstLastPara="1" rIns="91425" wrap="square" tIns="91425">
            <a:normAutofit/>
          </a:bodyPr>
          <a:lstStyle/>
          <a:p>
            <a:pPr indent="0" lvl="0" marL="0" rtl="0" algn="l">
              <a:lnSpc>
                <a:spcPct val="175000"/>
              </a:lnSpc>
              <a:spcBef>
                <a:spcPts val="0"/>
              </a:spcBef>
              <a:spcAft>
                <a:spcPts val="0"/>
              </a:spcAft>
              <a:buNone/>
            </a:pPr>
            <a:r>
              <a:rPr lang="zh-TW" sz="1500">
                <a:highlight>
                  <a:schemeClr val="lt1"/>
                </a:highlight>
              </a:rPr>
              <a:t>用來排序的 key 必須唯一 且不能為 null，通常是 Primrary Key (有可能有多個欄位組成)</a:t>
            </a:r>
            <a:endParaRPr/>
          </a:p>
          <a:p>
            <a:pPr indent="-317500" lvl="0" marL="457200" rtl="0" algn="l">
              <a:spcBef>
                <a:spcPts val="1100"/>
              </a:spcBef>
              <a:spcAft>
                <a:spcPts val="0"/>
              </a:spcAft>
              <a:buSzPts val="1400"/>
              <a:buAutoNum type="arabicPeriod"/>
            </a:pPr>
            <a:r>
              <a:rPr lang="zh-TW"/>
              <a:t>如果有明確定義的主鍵（PRIMARY KEY），則會選擇該主鍵作為叢集索引 </a:t>
            </a:r>
            <a:br>
              <a:rPr lang="zh-TW"/>
            </a:br>
            <a:endParaRPr/>
          </a:p>
          <a:p>
            <a:pPr indent="-317500" lvl="0" marL="457200" rtl="0" algn="l">
              <a:spcBef>
                <a:spcPts val="0"/>
              </a:spcBef>
              <a:spcAft>
                <a:spcPts val="0"/>
              </a:spcAft>
              <a:buSzPts val="1400"/>
              <a:buAutoNum type="arabicPeriod"/>
            </a:pPr>
            <a:r>
              <a:rPr lang="zh-TW"/>
              <a:t>否則，選擇第一個所有列都不允許為NULL的唯一索引 (Unique Key)</a:t>
            </a:r>
            <a:br>
              <a:rPr lang="zh-TW"/>
            </a:br>
            <a:endParaRPr/>
          </a:p>
          <a:p>
            <a:pPr indent="-317500" lvl="0" marL="457200" rtl="0" algn="l">
              <a:spcBef>
                <a:spcPts val="0"/>
              </a:spcBef>
              <a:spcAft>
                <a:spcPts val="0"/>
              </a:spcAft>
              <a:buSzPts val="1400"/>
              <a:buAutoNum type="arabicPeriod"/>
            </a:pPr>
            <a:r>
              <a:rPr lang="zh-TW"/>
              <a:t>若前兩者都沒有，則 InnoDB 會選擇內建的 db_row_id 作為叢集索引，命名為 GEN_CLUST_INDEX</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p26"/>
          <p:cNvPicPr preferRelativeResize="0"/>
          <p:nvPr/>
        </p:nvPicPr>
        <p:blipFill>
          <a:blip r:embed="rId3">
            <a:alphaModFix/>
          </a:blip>
          <a:stretch>
            <a:fillRect/>
          </a:stretch>
        </p:blipFill>
        <p:spPr>
          <a:xfrm>
            <a:off x="62725" y="160213"/>
            <a:ext cx="8839199" cy="482306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在完美空間寫入的情況下 (理論上)</a:t>
            </a:r>
            <a:endParaRPr/>
          </a:p>
        </p:txBody>
      </p:sp>
      <p:pic>
        <p:nvPicPr>
          <p:cNvPr id="147" name="Google Shape;147;p27"/>
          <p:cNvPicPr preferRelativeResize="0"/>
          <p:nvPr/>
        </p:nvPicPr>
        <p:blipFill>
          <a:blip r:embed="rId3">
            <a:alphaModFix/>
          </a:blip>
          <a:stretch>
            <a:fillRect/>
          </a:stretch>
        </p:blipFill>
        <p:spPr>
          <a:xfrm>
            <a:off x="275588" y="2504375"/>
            <a:ext cx="8592824" cy="2358000"/>
          </a:xfrm>
          <a:prstGeom prst="rect">
            <a:avLst/>
          </a:prstGeom>
          <a:noFill/>
          <a:ln>
            <a:noFill/>
          </a:ln>
        </p:spPr>
      </p:pic>
      <p:sp>
        <p:nvSpPr>
          <p:cNvPr id="148" name="Google Shape;148;p27"/>
          <p:cNvSpPr txBox="1"/>
          <p:nvPr>
            <p:ph idx="1" type="body"/>
          </p:nvPr>
        </p:nvSpPr>
        <p:spPr>
          <a:xfrm>
            <a:off x="311700" y="1615250"/>
            <a:ext cx="8520600" cy="831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zh-TW" sz="1300"/>
              <a:t>Create table  t_btree (  i INT NOT NULL,    s CHAR(10) NOT NULL,    PRIMARY KEY(i)  ) ENGINE=InnoDB;</a:t>
            </a:r>
            <a:endParaRPr sz="1300"/>
          </a:p>
          <a:p>
            <a:pPr indent="0" lvl="0" marL="0" rtl="0" algn="l">
              <a:spcBef>
                <a:spcPts val="1200"/>
              </a:spcBef>
              <a:spcAft>
                <a:spcPts val="1200"/>
              </a:spcAft>
              <a:buNone/>
            </a:pPr>
            <a:r>
              <a:rPr lang="zh-TW" sz="1300"/>
              <a:t> Header (5) + PK (4) + TRX_ID(6) + ROLL_Point ( 7) + Non-Key_Part (10) = 32 bytes / rows</a:t>
            </a:r>
            <a:endParaRPr sz="13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InnoDB </a:t>
            </a:r>
            <a:r>
              <a:rPr lang="zh-TW"/>
              <a:t>如何存放資料</a:t>
            </a:r>
            <a:endParaRPr/>
          </a:p>
        </p:txBody>
      </p:sp>
      <p:sp>
        <p:nvSpPr>
          <p:cNvPr id="154" name="Google Shape;154;p28"/>
          <p:cNvSpPr txBox="1"/>
          <p:nvPr>
            <p:ph idx="1" type="body"/>
          </p:nvPr>
        </p:nvSpPr>
        <p:spPr>
          <a:xfrm>
            <a:off x="311700" y="1225225"/>
            <a:ext cx="8520600" cy="3354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zh-TW" sz="1600"/>
              <a:t>將資料切分成</a:t>
            </a:r>
            <a:r>
              <a:rPr lang="zh-TW" sz="1600"/>
              <a:t>一頁一頁儲存，每頁16kb (預設)</a:t>
            </a:r>
            <a:endParaRPr sz="1600"/>
          </a:p>
          <a:p>
            <a:pPr indent="0" lvl="0" marL="0" rtl="0" algn="l">
              <a:spcBef>
                <a:spcPts val="1200"/>
              </a:spcBef>
              <a:spcAft>
                <a:spcPts val="0"/>
              </a:spcAft>
              <a:buClr>
                <a:schemeClr val="dk1"/>
              </a:buClr>
              <a:buSzPts val="1100"/>
              <a:buFont typeface="Arial"/>
              <a:buNone/>
            </a:pPr>
            <a:r>
              <a:rPr lang="zh-TW" sz="1600"/>
              <a:t>每筆資料將依照 行格式 ROW_FORMAT 存放方式不同 (Redundant、Dynamic 和Compressed)</a:t>
            </a:r>
            <a:endParaRPr sz="1600"/>
          </a:p>
          <a:p>
            <a:pPr indent="0" lvl="0" marL="0" rtl="0" algn="l">
              <a:spcBef>
                <a:spcPts val="1200"/>
              </a:spcBef>
              <a:spcAft>
                <a:spcPts val="1200"/>
              </a:spcAft>
              <a:buNone/>
            </a:pPr>
            <a:r>
              <a:rPr lang="zh-TW" sz="1600"/>
              <a:t>硬碟讀取的成本很高，因此每次從硬碟讀取至少取一頁的資料，相近的資料高機率會接著被查詢使用</a:t>
            </a:r>
            <a:endParaRPr sz="16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Leaf Pages and Non-Leaf Pages</a:t>
            </a:r>
            <a:endParaRPr/>
          </a:p>
        </p:txBody>
      </p:sp>
      <p:grpSp>
        <p:nvGrpSpPr>
          <p:cNvPr id="160" name="Google Shape;160;p29"/>
          <p:cNvGrpSpPr/>
          <p:nvPr/>
        </p:nvGrpSpPr>
        <p:grpSpPr>
          <a:xfrm>
            <a:off x="-248500" y="1710450"/>
            <a:ext cx="5167600" cy="2945525"/>
            <a:chOff x="946000" y="1738400"/>
            <a:chExt cx="5167600" cy="2945525"/>
          </a:xfrm>
        </p:grpSpPr>
        <p:pic>
          <p:nvPicPr>
            <p:cNvPr id="161" name="Google Shape;161;p29"/>
            <p:cNvPicPr preferRelativeResize="0"/>
            <p:nvPr/>
          </p:nvPicPr>
          <p:blipFill>
            <a:blip r:embed="rId3">
              <a:alphaModFix/>
            </a:blip>
            <a:stretch>
              <a:fillRect/>
            </a:stretch>
          </p:blipFill>
          <p:spPr>
            <a:xfrm>
              <a:off x="946000" y="1738400"/>
              <a:ext cx="5167600" cy="2945525"/>
            </a:xfrm>
            <a:prstGeom prst="rect">
              <a:avLst/>
            </a:prstGeom>
            <a:noFill/>
            <a:ln>
              <a:noFill/>
            </a:ln>
          </p:spPr>
        </p:pic>
        <p:sp>
          <p:nvSpPr>
            <p:cNvPr id="162" name="Google Shape;162;p29"/>
            <p:cNvSpPr/>
            <p:nvPr/>
          </p:nvSpPr>
          <p:spPr>
            <a:xfrm>
              <a:off x="1742925" y="2206075"/>
              <a:ext cx="4119600" cy="174300"/>
            </a:xfrm>
            <a:prstGeom prst="rect">
              <a:avLst/>
            </a:prstGeom>
            <a:solidFill>
              <a:srgbClr val="F8F8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mbria"/>
                <a:ea typeface="Cambria"/>
                <a:cs typeface="Cambria"/>
                <a:sym typeface="Cambria"/>
              </a:endParaRPr>
            </a:p>
          </p:txBody>
        </p:sp>
      </p:grpSp>
      <p:pic>
        <p:nvPicPr>
          <p:cNvPr id="163" name="Google Shape;163;p29"/>
          <p:cNvPicPr preferRelativeResize="0"/>
          <p:nvPr/>
        </p:nvPicPr>
        <p:blipFill rotWithShape="1">
          <a:blip r:embed="rId4">
            <a:alphaModFix/>
          </a:blip>
          <a:srcRect b="20108" l="6355" r="4254" t="0"/>
          <a:stretch/>
        </p:blipFill>
        <p:spPr>
          <a:xfrm>
            <a:off x="4759600" y="1938500"/>
            <a:ext cx="4384400" cy="1742650"/>
          </a:xfrm>
          <a:prstGeom prst="rect">
            <a:avLst/>
          </a:prstGeom>
          <a:noFill/>
          <a:ln>
            <a:noFill/>
          </a:ln>
        </p:spPr>
      </p:pic>
      <p:sp>
        <p:nvSpPr>
          <p:cNvPr id="164" name="Google Shape;164;p29"/>
          <p:cNvSpPr/>
          <p:nvPr/>
        </p:nvSpPr>
        <p:spPr>
          <a:xfrm>
            <a:off x="926375" y="3534650"/>
            <a:ext cx="3303000" cy="573000"/>
          </a:xfrm>
          <a:prstGeom prst="rect">
            <a:avLst/>
          </a:prstGeom>
          <a:noFill/>
          <a:ln cap="flat" cmpd="sng" w="19050">
            <a:solidFill>
              <a:srgbClr val="0000FF"/>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mbria"/>
              <a:ea typeface="Cambria"/>
              <a:cs typeface="Cambria"/>
              <a:sym typeface="Cambria"/>
            </a:endParaRPr>
          </a:p>
        </p:txBody>
      </p:sp>
      <p:sp>
        <p:nvSpPr>
          <p:cNvPr id="165" name="Google Shape;165;p29"/>
          <p:cNvSpPr/>
          <p:nvPr/>
        </p:nvSpPr>
        <p:spPr>
          <a:xfrm>
            <a:off x="5594400" y="3401850"/>
            <a:ext cx="3146400" cy="279300"/>
          </a:xfrm>
          <a:prstGeom prst="rect">
            <a:avLst/>
          </a:prstGeom>
          <a:noFill/>
          <a:ln cap="flat" cmpd="sng" w="19050">
            <a:solidFill>
              <a:srgbClr val="0000FF"/>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mbria"/>
              <a:ea typeface="Cambria"/>
              <a:cs typeface="Cambria"/>
              <a:sym typeface="Cambri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Transaction ID  </a:t>
            </a:r>
            <a:endParaRPr/>
          </a:p>
        </p:txBody>
      </p:sp>
      <p:sp>
        <p:nvSpPr>
          <p:cNvPr id="171" name="Google Shape;171;p30"/>
          <p:cNvSpPr txBox="1"/>
          <p:nvPr>
            <p:ph idx="1" type="body"/>
          </p:nvPr>
        </p:nvSpPr>
        <p:spPr>
          <a:xfrm>
            <a:off x="311700" y="1225225"/>
            <a:ext cx="8520600" cy="3354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zh-TW"/>
              <a:t>DB_TRX_ID </a:t>
            </a:r>
            <a:endParaRPr/>
          </a:p>
          <a:p>
            <a:pPr indent="0" lvl="0" marL="0" rtl="0" algn="l">
              <a:spcBef>
                <a:spcPts val="1200"/>
              </a:spcBef>
              <a:spcAft>
                <a:spcPts val="0"/>
              </a:spcAft>
              <a:buNone/>
            </a:pPr>
            <a:r>
              <a:rPr lang="zh-TW"/>
              <a:t>你可以想成版本號，資料表本身會維護四個 Transaction 資料</a:t>
            </a:r>
            <a:endParaRPr/>
          </a:p>
          <a:p>
            <a:pPr indent="0" lvl="0" marL="0" rtl="0" algn="l">
              <a:spcBef>
                <a:spcPts val="1200"/>
              </a:spcBef>
              <a:spcAft>
                <a:spcPts val="0"/>
              </a:spcAft>
              <a:buNone/>
            </a:pPr>
            <a:r>
              <a:rPr lang="zh-TW"/>
              <a:t>m_ids (未提交列表), min_trx_id (已提交), max_trx_id (自己下一個), creator_trx_id (誰建立自己)</a:t>
            </a:r>
            <a:br>
              <a:rPr lang="zh-TW"/>
            </a:br>
            <a:br>
              <a:rPr lang="zh-TW"/>
            </a:br>
            <a:r>
              <a:rPr lang="zh-TW"/>
              <a:t>查詢資料時，不能看到高於 max_trx_id 的 </a:t>
            </a:r>
            <a:r>
              <a:rPr lang="zh-TW"/>
              <a:t>交易事務 ID </a:t>
            </a:r>
            <a:endParaRPr/>
          </a:p>
          <a:p>
            <a:pPr indent="0" lvl="0" marL="0" rtl="0" algn="l">
              <a:spcBef>
                <a:spcPts val="1200"/>
              </a:spcBef>
              <a:spcAft>
                <a:spcPts val="0"/>
              </a:spcAft>
              <a:buNone/>
            </a:pPr>
            <a:r>
              <a:rPr lang="zh-TW"/>
              <a:t>min_trx_id - max_trx_id 要排除 m_ids 內尚未提交的</a:t>
            </a:r>
            <a:endParaRPr/>
          </a:p>
          <a:p>
            <a:pPr indent="0" lvl="0" marL="0" rtl="0" algn="l">
              <a:spcBef>
                <a:spcPts val="1200"/>
              </a:spcBef>
              <a:spcAft>
                <a:spcPts val="0"/>
              </a:spcAft>
              <a:buNone/>
            </a:pPr>
            <a:r>
              <a:rPr lang="zh-TW"/>
              <a:t>只有小於 min_trx_id 可確保資料已提交</a:t>
            </a:r>
            <a:endParaRPr/>
          </a:p>
          <a:p>
            <a:pPr indent="0" lvl="0" marL="0" rtl="0" algn="l">
              <a:spcBef>
                <a:spcPts val="1200"/>
              </a:spcBef>
              <a:spcAft>
                <a:spcPts val="1200"/>
              </a:spcAft>
              <a:buNone/>
            </a:pPr>
            <a:r>
              <a:rPr lang="zh-TW"/>
              <a:t>此外查找</a:t>
            </a:r>
            <a:r>
              <a:rPr lang="zh-TW"/>
              <a:t> data-lock table 也可以看到該 Transaction 是否</a:t>
            </a:r>
            <a:r>
              <a:rPr lang="zh-TW"/>
              <a:t>持有 Lock ( next-key, gap, intention … )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Roll Pointer </a:t>
            </a:r>
            <a:endParaRPr/>
          </a:p>
        </p:txBody>
      </p:sp>
      <p:sp>
        <p:nvSpPr>
          <p:cNvPr id="177" name="Google Shape;177;p31"/>
          <p:cNvSpPr txBox="1"/>
          <p:nvPr>
            <p:ph idx="1" type="body"/>
          </p:nvPr>
        </p:nvSpPr>
        <p:spPr>
          <a:xfrm>
            <a:off x="311700" y="1225225"/>
            <a:ext cx="8520600" cy="3354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zh-TW"/>
              <a:t>DB_ROLL_PTR </a:t>
            </a:r>
            <a:endParaRPr/>
          </a:p>
          <a:p>
            <a:pPr indent="0" lvl="0" marL="0" rtl="0" algn="l">
              <a:spcBef>
                <a:spcPts val="1200"/>
              </a:spcBef>
              <a:spcAft>
                <a:spcPts val="1200"/>
              </a:spcAft>
              <a:buNone/>
            </a:pPr>
            <a:r>
              <a:rPr lang="zh-TW"/>
              <a:t>用來查找 Undo log 做資料回滾的</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叢集索引 clustered key</a:t>
            </a:r>
            <a:endParaRPr/>
          </a:p>
        </p:txBody>
      </p:sp>
      <p:sp>
        <p:nvSpPr>
          <p:cNvPr id="183" name="Google Shape;183;p32"/>
          <p:cNvSpPr txBox="1"/>
          <p:nvPr>
            <p:ph idx="1" type="body"/>
          </p:nvPr>
        </p:nvSpPr>
        <p:spPr>
          <a:xfrm>
            <a:off x="311700" y="1225225"/>
            <a:ext cx="8366400" cy="3354000"/>
          </a:xfrm>
          <a:prstGeom prst="rect">
            <a:avLst/>
          </a:prstGeom>
        </p:spPr>
        <p:txBody>
          <a:bodyPr anchorCtr="0" anchor="ctr" bIns="91425" lIns="91425" spcFirstLastPara="1" rIns="91425" wrap="square" tIns="91425">
            <a:noAutofit/>
          </a:bodyPr>
          <a:lstStyle/>
          <a:p>
            <a:pPr indent="0" lvl="0" marL="0" rtl="0" algn="l">
              <a:lnSpc>
                <a:spcPct val="175000"/>
              </a:lnSpc>
              <a:spcBef>
                <a:spcPts val="0"/>
              </a:spcBef>
              <a:spcAft>
                <a:spcPts val="0"/>
              </a:spcAft>
              <a:buNone/>
            </a:pPr>
            <a:r>
              <a:rPr lang="zh-TW">
                <a:highlight>
                  <a:srgbClr val="FFFFFF"/>
                </a:highlight>
              </a:rPr>
              <a:t>Clustered Key (Primirary) 大量存在於非葉節點上 (non-leaf node)</a:t>
            </a:r>
            <a:endParaRPr>
              <a:highlight>
                <a:srgbClr val="FFFFFF"/>
              </a:highlight>
            </a:endParaRPr>
          </a:p>
          <a:p>
            <a:pPr indent="0" lvl="0" marL="0" rtl="0" algn="l">
              <a:lnSpc>
                <a:spcPct val="175000"/>
              </a:lnSpc>
              <a:spcBef>
                <a:spcPts val="0"/>
              </a:spcBef>
              <a:spcAft>
                <a:spcPts val="0"/>
              </a:spcAft>
              <a:buNone/>
            </a:pPr>
            <a:r>
              <a:rPr lang="zh-TW">
                <a:highlight>
                  <a:srgbClr val="FFFFFF"/>
                </a:highlight>
              </a:rPr>
              <a:t>因此建立的 Primrary key 資料型別小，或欄位數量少將有助於減少空間浪費</a:t>
            </a:r>
            <a:endParaRPr>
              <a:highlight>
                <a:srgbClr val="FFFFFF"/>
              </a:high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3"/>
          <p:cNvSpPr txBox="1"/>
          <p:nvPr>
            <p:ph idx="1" type="body"/>
          </p:nvPr>
        </p:nvSpPr>
        <p:spPr>
          <a:xfrm>
            <a:off x="311700" y="1225225"/>
            <a:ext cx="8520600" cy="3354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zh-TW" sz="1600"/>
              <a:t>當新記錄插入InnoDB 聚集索引時， InnoDB 將嘗試保留 1/16 的頁面以供將來插入和更新索引記錄。如果依序（升序或降序）插入索引記錄，則產生的索引頁大約為 15/16 已滿。如果記錄以隨機順序插入，則頁數從 1/2 到 15/16 已滿。</a:t>
            </a:r>
            <a:endParaRPr sz="1600"/>
          </a:p>
          <a:p>
            <a:pPr indent="0" lvl="0" marL="0" rtl="0" algn="l">
              <a:spcBef>
                <a:spcPts val="1200"/>
              </a:spcBef>
              <a:spcAft>
                <a:spcPts val="0"/>
              </a:spcAft>
              <a:buClr>
                <a:schemeClr val="dk1"/>
              </a:buClr>
              <a:buSzPts val="1100"/>
              <a:buFont typeface="Arial"/>
              <a:buNone/>
            </a:pPr>
            <a:r>
              <a:rPr lang="zh-TW" sz="1600"/>
              <a:t>如果已滿，將進行拆分頁，如果這種情況經常發生也將導致更多個閒置殘留空間。</a:t>
            </a:r>
            <a:endParaRPr sz="1600"/>
          </a:p>
          <a:p>
            <a:pPr indent="0" lvl="0" marL="0" rtl="0" algn="l">
              <a:lnSpc>
                <a:spcPct val="95000"/>
              </a:lnSpc>
              <a:spcBef>
                <a:spcPts val="1200"/>
              </a:spcBef>
              <a:spcAft>
                <a:spcPts val="1200"/>
              </a:spcAft>
              <a:buClr>
                <a:schemeClr val="dk1"/>
              </a:buClr>
              <a:buSzPts val="1100"/>
              <a:buFont typeface="Arial"/>
              <a:buNone/>
            </a:pPr>
            <a:r>
              <a:rPr lang="zh-TW"/>
              <a:t>因為Primary key 等同叢集索引，為大量資料的表更改 Primary key 可能會是較有負擔的操作行為</a:t>
            </a:r>
            <a:endParaRPr sz="1600"/>
          </a:p>
        </p:txBody>
      </p:sp>
      <p:sp>
        <p:nvSpPr>
          <p:cNvPr id="189" name="Google Shape;189;p33"/>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資料變動</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4"/>
          <p:cNvSpPr txBox="1"/>
          <p:nvPr>
            <p:ph idx="1" type="body"/>
          </p:nvPr>
        </p:nvSpPr>
        <p:spPr>
          <a:xfrm>
            <a:off x="311700" y="1225225"/>
            <a:ext cx="8520600" cy="3354000"/>
          </a:xfrm>
          <a:prstGeom prst="rect">
            <a:avLst/>
          </a:prstGeom>
        </p:spPr>
        <p:txBody>
          <a:bodyPr anchorCtr="0" anchor="ctr" bIns="91425" lIns="91425" spcFirstLastPara="1" rIns="91425" wrap="square" tIns="91425">
            <a:normAutofit/>
          </a:bodyPr>
          <a:lstStyle/>
          <a:p>
            <a:pPr indent="0" lvl="0" marL="0" rtl="0" algn="l">
              <a:lnSpc>
                <a:spcPct val="95000"/>
              </a:lnSpc>
              <a:spcBef>
                <a:spcPts val="0"/>
              </a:spcBef>
              <a:spcAft>
                <a:spcPts val="0"/>
              </a:spcAft>
              <a:buNone/>
            </a:pPr>
            <a:r>
              <a:rPr lang="zh-TW" sz="1600"/>
              <a:t>建議採用新增自動增量列 (auto_increment)來代理 Primary key</a:t>
            </a:r>
            <a:endParaRPr sz="1600"/>
          </a:p>
          <a:p>
            <a:pPr indent="0" lvl="0" marL="0" rtl="0" algn="l">
              <a:lnSpc>
                <a:spcPct val="95000"/>
              </a:lnSpc>
              <a:spcBef>
                <a:spcPts val="1200"/>
              </a:spcBef>
              <a:spcAft>
                <a:spcPts val="0"/>
              </a:spcAft>
              <a:buNone/>
            </a:pPr>
            <a:br>
              <a:rPr lang="zh-TW" sz="1600"/>
            </a:br>
            <a:r>
              <a:rPr lang="zh-TW" sz="1600"/>
              <a:t>不要使用無序字串(ex: 舊版的UUID) ，無序寫入時會造成過多預留空間，導致分頁空間使用不充分</a:t>
            </a:r>
            <a:endParaRPr sz="1600"/>
          </a:p>
          <a:p>
            <a:pPr indent="0" lvl="0" marL="0" rtl="0" algn="l">
              <a:lnSpc>
                <a:spcPct val="95000"/>
              </a:lnSpc>
              <a:spcBef>
                <a:spcPts val="1200"/>
              </a:spcBef>
              <a:spcAft>
                <a:spcPts val="0"/>
              </a:spcAft>
              <a:buNone/>
            </a:pPr>
            <a:r>
              <a:t/>
            </a:r>
            <a:endParaRPr sz="1600"/>
          </a:p>
          <a:p>
            <a:pPr indent="0" lvl="0" marL="0" rtl="0" algn="l">
              <a:lnSpc>
                <a:spcPct val="95000"/>
              </a:lnSpc>
              <a:spcBef>
                <a:spcPts val="1200"/>
              </a:spcBef>
              <a:spcAft>
                <a:spcPts val="1200"/>
              </a:spcAft>
              <a:buNone/>
            </a:pPr>
            <a:r>
              <a:rPr lang="zh-TW" sz="1600"/>
              <a:t>且所有二級索引預設都會在最後加上叢集索引，Primary key 越小越能節省空間</a:t>
            </a:r>
            <a:endParaRPr sz="1600"/>
          </a:p>
        </p:txBody>
      </p:sp>
      <p:sp>
        <p:nvSpPr>
          <p:cNvPr id="195" name="Google Shape;195;p3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Primary key - 建議</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5"/>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zh-TW"/>
              <a:t>二級索引</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二級索引(secondary index)</a:t>
            </a:r>
            <a:endParaRPr/>
          </a:p>
        </p:txBody>
      </p:sp>
      <p:sp>
        <p:nvSpPr>
          <p:cNvPr id="206" name="Google Shape;206;p36"/>
          <p:cNvSpPr txBox="1"/>
          <p:nvPr>
            <p:ph idx="1" type="body"/>
          </p:nvPr>
        </p:nvSpPr>
        <p:spPr>
          <a:xfrm>
            <a:off x="311700" y="1225225"/>
            <a:ext cx="4260300" cy="3354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zh-TW"/>
              <a:t>因為 index 資料量會比 叢集索引 (clustering index ) 小，可以放更多的資料在快取中。</a:t>
            </a:r>
            <a:endParaRPr/>
          </a:p>
          <a:p>
            <a:pPr indent="0" lvl="0" marL="0" rtl="0" algn="l">
              <a:spcBef>
                <a:spcPts val="1200"/>
              </a:spcBef>
              <a:spcAft>
                <a:spcPts val="0"/>
              </a:spcAft>
              <a:buNone/>
            </a:pPr>
            <a:r>
              <a:rPr lang="zh-TW"/>
              <a:t>並提供不同的排序與分組</a:t>
            </a:r>
            <a:endParaRPr/>
          </a:p>
          <a:p>
            <a:pPr indent="0" lvl="0" marL="0" rtl="0" algn="l">
              <a:spcBef>
                <a:spcPts val="1200"/>
              </a:spcBef>
              <a:spcAft>
                <a:spcPts val="0"/>
              </a:spcAft>
              <a:buNone/>
            </a:pPr>
            <a:r>
              <a:rPr lang="zh-TW"/>
              <a:t>cluster key fields 存放 叢集索引，如有其他欄位需求，則依照叢集索引去找到原始資料稱為 回表。</a:t>
            </a:r>
            <a:endParaRPr/>
          </a:p>
          <a:p>
            <a:pPr indent="0" lvl="0" marL="0" rtl="0" algn="l">
              <a:spcBef>
                <a:spcPts val="1200"/>
              </a:spcBef>
              <a:spcAft>
                <a:spcPts val="1200"/>
              </a:spcAft>
              <a:buNone/>
            </a:pPr>
            <a:r>
              <a:rPr lang="zh-TW"/>
              <a:t>假設 PK (a,b,c) 且 index (d,b) 則 cluster key Fields 存放的資料為 (a,c) ，</a:t>
            </a:r>
            <a:r>
              <a:rPr lang="zh-TW"/>
              <a:t>避免重複儲存。</a:t>
            </a:r>
            <a:endParaRPr/>
          </a:p>
        </p:txBody>
      </p:sp>
      <p:pic>
        <p:nvPicPr>
          <p:cNvPr id="207" name="Google Shape;207;p36"/>
          <p:cNvPicPr preferRelativeResize="0"/>
          <p:nvPr/>
        </p:nvPicPr>
        <p:blipFill rotWithShape="1">
          <a:blip r:embed="rId3">
            <a:alphaModFix/>
          </a:blip>
          <a:srcRect b="17627" l="6794" r="0" t="0"/>
          <a:stretch/>
        </p:blipFill>
        <p:spPr>
          <a:xfrm>
            <a:off x="4571999" y="1068998"/>
            <a:ext cx="4572000" cy="1953725"/>
          </a:xfrm>
          <a:prstGeom prst="rect">
            <a:avLst/>
          </a:prstGeom>
          <a:noFill/>
          <a:ln>
            <a:noFill/>
          </a:ln>
        </p:spPr>
      </p:pic>
      <p:pic>
        <p:nvPicPr>
          <p:cNvPr id="208" name="Google Shape;208;p36"/>
          <p:cNvPicPr preferRelativeResize="0"/>
          <p:nvPr/>
        </p:nvPicPr>
        <p:blipFill rotWithShape="1">
          <a:blip r:embed="rId4">
            <a:alphaModFix/>
          </a:blip>
          <a:srcRect b="16331" l="0" r="0" t="0"/>
          <a:stretch/>
        </p:blipFill>
        <p:spPr>
          <a:xfrm>
            <a:off x="4695575" y="3022725"/>
            <a:ext cx="4136725" cy="18404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where</a:t>
            </a:r>
            <a:r>
              <a:rPr lang="zh-TW"/>
              <a:t> Jim …</a:t>
            </a:r>
            <a:endParaRPr/>
          </a:p>
        </p:txBody>
      </p:sp>
      <p:sp>
        <p:nvSpPr>
          <p:cNvPr id="214" name="Google Shape;214;p37"/>
          <p:cNvSpPr txBox="1"/>
          <p:nvPr>
            <p:ph idx="1" type="body"/>
          </p:nvPr>
        </p:nvSpPr>
        <p:spPr>
          <a:xfrm>
            <a:off x="311700" y="1225225"/>
            <a:ext cx="8520600" cy="33540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t/>
            </a:r>
            <a:endParaRPr/>
          </a:p>
        </p:txBody>
      </p:sp>
      <p:pic>
        <p:nvPicPr>
          <p:cNvPr id="215" name="Google Shape;215;p37"/>
          <p:cNvPicPr preferRelativeResize="0"/>
          <p:nvPr/>
        </p:nvPicPr>
        <p:blipFill>
          <a:blip r:embed="rId3">
            <a:alphaModFix/>
          </a:blip>
          <a:stretch>
            <a:fillRect/>
          </a:stretch>
        </p:blipFill>
        <p:spPr>
          <a:xfrm>
            <a:off x="38725" y="1147227"/>
            <a:ext cx="9144003" cy="3848696"/>
          </a:xfrm>
          <a:prstGeom prst="rect">
            <a:avLst/>
          </a:prstGeom>
          <a:noFill/>
          <a:ln>
            <a:noFill/>
          </a:ln>
        </p:spPr>
      </p:pic>
      <p:sp>
        <p:nvSpPr>
          <p:cNvPr id="216" name="Google Shape;216;p37"/>
          <p:cNvSpPr/>
          <p:nvPr/>
        </p:nvSpPr>
        <p:spPr>
          <a:xfrm>
            <a:off x="8200800" y="3732550"/>
            <a:ext cx="631500" cy="766800"/>
          </a:xfrm>
          <a:prstGeom prst="rect">
            <a:avLst/>
          </a:prstGeom>
          <a:noFill/>
          <a:ln cap="flat" cmpd="sng" w="19050">
            <a:solidFill>
              <a:srgbClr val="F6B2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mbria"/>
              <a:ea typeface="Cambria"/>
              <a:cs typeface="Cambria"/>
              <a:sym typeface="Cambri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0" name="Shape 220"/>
        <p:cNvGrpSpPr/>
        <p:nvPr/>
      </p:nvGrpSpPr>
      <p:grpSpPr>
        <a:xfrm>
          <a:off x="0" y="0"/>
          <a:ext cx="0" cy="0"/>
          <a:chOff x="0" y="0"/>
          <a:chExt cx="0" cy="0"/>
        </a:xfrm>
      </p:grpSpPr>
      <p:sp>
        <p:nvSpPr>
          <p:cNvPr id="221" name="Google Shape;221;p3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222" name="Google Shape;222;p38"/>
          <p:cNvSpPr txBox="1"/>
          <p:nvPr>
            <p:ph idx="1" type="body"/>
          </p:nvPr>
        </p:nvSpPr>
        <p:spPr>
          <a:xfrm>
            <a:off x="311700" y="1225225"/>
            <a:ext cx="8520600" cy="33540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t/>
            </a:r>
            <a:endParaRPr/>
          </a:p>
        </p:txBody>
      </p:sp>
      <p:pic>
        <p:nvPicPr>
          <p:cNvPr id="223" name="Google Shape;223;p38"/>
          <p:cNvPicPr preferRelativeResize="0"/>
          <p:nvPr/>
        </p:nvPicPr>
        <p:blipFill>
          <a:blip r:embed="rId3">
            <a:alphaModFix/>
          </a:blip>
          <a:stretch>
            <a:fillRect/>
          </a:stretch>
        </p:blipFill>
        <p:spPr>
          <a:xfrm>
            <a:off x="-103925" y="876752"/>
            <a:ext cx="9144003" cy="384869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id="228" name="Google Shape;228;p39"/>
          <p:cNvPicPr preferRelativeResize="0"/>
          <p:nvPr/>
        </p:nvPicPr>
        <p:blipFill>
          <a:blip r:embed="rId3">
            <a:alphaModFix/>
          </a:blip>
          <a:stretch>
            <a:fillRect/>
          </a:stretch>
        </p:blipFill>
        <p:spPr>
          <a:xfrm>
            <a:off x="87687" y="-1035650"/>
            <a:ext cx="8893676" cy="600582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0"/>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zh-TW"/>
              <a:t>Mysql </a:t>
            </a:r>
            <a:r>
              <a:rPr lang="zh-TW"/>
              <a:t>怎麼選擇索引？</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1"/>
          <p:cNvSpPr txBox="1"/>
          <p:nvPr>
            <p:ph type="title"/>
          </p:nvPr>
        </p:nvSpPr>
        <p:spPr>
          <a:xfrm>
            <a:off x="773700" y="1219200"/>
            <a:ext cx="7596600" cy="2830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zh-TW"/>
              <a:t>SELECT </a:t>
            </a:r>
            <a:r>
              <a:rPr lang="zh-TW">
                <a:solidFill>
                  <a:srgbClr val="FF0000"/>
                </a:solidFill>
              </a:rPr>
              <a:t>[ A ]</a:t>
            </a:r>
            <a:r>
              <a:rPr lang="zh-TW"/>
              <a:t>  FROM TABLE </a:t>
            </a:r>
            <a:endParaRPr/>
          </a:p>
          <a:p>
            <a:pPr indent="0" lvl="0" marL="0" rtl="0" algn="ctr">
              <a:spcBef>
                <a:spcPts val="0"/>
              </a:spcBef>
              <a:spcAft>
                <a:spcPts val="0"/>
              </a:spcAft>
              <a:buNone/>
            </a:pPr>
            <a:r>
              <a:rPr lang="zh-TW"/>
              <a:t>WHERE  </a:t>
            </a:r>
            <a:r>
              <a:rPr lang="zh-TW">
                <a:solidFill>
                  <a:srgbClr val="FF0000"/>
                </a:solidFill>
              </a:rPr>
              <a:t>[ B ]</a:t>
            </a:r>
            <a:r>
              <a:rPr lang="zh-TW"/>
              <a:t>  </a:t>
            </a:r>
            <a:endParaRPr/>
          </a:p>
          <a:p>
            <a:pPr indent="0" lvl="0" marL="0" rtl="0" algn="ctr">
              <a:spcBef>
                <a:spcPts val="0"/>
              </a:spcBef>
              <a:spcAft>
                <a:spcPts val="0"/>
              </a:spcAft>
              <a:buNone/>
            </a:pPr>
            <a:r>
              <a:rPr lang="zh-TW"/>
              <a:t>GROUP BY </a:t>
            </a:r>
            <a:r>
              <a:rPr lang="zh-TW">
                <a:solidFill>
                  <a:srgbClr val="FF0000"/>
                </a:solidFill>
              </a:rPr>
              <a:t>[ C ]</a:t>
            </a:r>
            <a:r>
              <a:rPr lang="zh-TW"/>
              <a:t> </a:t>
            </a:r>
            <a:endParaRPr/>
          </a:p>
          <a:p>
            <a:pPr indent="0" lvl="0" marL="0" rtl="0" algn="ctr">
              <a:spcBef>
                <a:spcPts val="0"/>
              </a:spcBef>
              <a:spcAft>
                <a:spcPts val="0"/>
              </a:spcAft>
              <a:buNone/>
            </a:pPr>
            <a:r>
              <a:rPr i="1" lang="zh-TW"/>
              <a:t>HAVING </a:t>
            </a:r>
            <a:r>
              <a:rPr i="1" lang="zh-TW">
                <a:solidFill>
                  <a:srgbClr val="FF0000"/>
                </a:solidFill>
              </a:rPr>
              <a:t>[ D ]</a:t>
            </a:r>
            <a:endParaRPr i="1">
              <a:solidFill>
                <a:srgbClr val="FF0000"/>
              </a:solidFill>
            </a:endParaRPr>
          </a:p>
          <a:p>
            <a:pPr indent="0" lvl="0" marL="0" rtl="0" algn="ctr">
              <a:spcBef>
                <a:spcPts val="0"/>
              </a:spcBef>
              <a:spcAft>
                <a:spcPts val="0"/>
              </a:spcAft>
              <a:buNone/>
            </a:pPr>
            <a:r>
              <a:rPr lang="zh-TW"/>
              <a:t>ORDER BY </a:t>
            </a:r>
            <a:r>
              <a:rPr lang="zh-TW">
                <a:solidFill>
                  <a:srgbClr val="FF0000"/>
                </a:solidFill>
              </a:rPr>
              <a:t>[ E ]</a:t>
            </a:r>
            <a:endParaRPr>
              <a:solidFill>
                <a:srgbClr val="FF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基數 cardinality</a:t>
            </a:r>
            <a:endParaRPr/>
          </a:p>
        </p:txBody>
      </p:sp>
      <p:sp>
        <p:nvSpPr>
          <p:cNvPr id="244" name="Google Shape;244;p42"/>
          <p:cNvSpPr txBox="1"/>
          <p:nvPr>
            <p:ph idx="1" type="body"/>
          </p:nvPr>
        </p:nvSpPr>
        <p:spPr>
          <a:xfrm>
            <a:off x="311700" y="1225225"/>
            <a:ext cx="8520600" cy="3354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zh-TW"/>
              <a:t>定義上等同 distinct，但實際為預估值</a:t>
            </a:r>
            <a:endParaRPr/>
          </a:p>
          <a:p>
            <a:pPr indent="0" lvl="0" marL="0" rtl="0" algn="l">
              <a:spcBef>
                <a:spcPts val="1200"/>
              </a:spcBef>
              <a:spcAft>
                <a:spcPts val="0"/>
              </a:spcAft>
              <a:buNone/>
            </a:pPr>
            <a:r>
              <a:rPr lang="zh-TW"/>
              <a:t>失準時可以採用 ANALYZE TABLE 重新統計</a:t>
            </a:r>
            <a:endParaRPr/>
          </a:p>
          <a:p>
            <a:pPr indent="0" lvl="0" marL="0" rtl="0" algn="l">
              <a:spcBef>
                <a:spcPts val="1200"/>
              </a:spcBef>
              <a:spcAft>
                <a:spcPts val="0"/>
              </a:spcAft>
              <a:buNone/>
            </a:pPr>
            <a:r>
              <a:rPr lang="zh-TW"/>
              <a:t>開啟 innodb_stats_persistent 可以提高採樣比率，但降低 ANALYZE TABLE 效率</a:t>
            </a:r>
            <a:endParaRPr/>
          </a:p>
          <a:p>
            <a:pPr indent="0" lvl="0" marL="0" rtl="0" algn="l">
              <a:spcBef>
                <a:spcPts val="1200"/>
              </a:spcBef>
              <a:spcAft>
                <a:spcPts val="0"/>
              </a:spcAft>
              <a:buNone/>
            </a:pPr>
            <a:r>
              <a:rPr lang="zh-TW"/>
              <a:t>查找語法</a:t>
            </a:r>
            <a:endParaRPr/>
          </a:p>
          <a:p>
            <a:pPr indent="0" lvl="0" marL="0" rtl="0" algn="l">
              <a:spcBef>
                <a:spcPts val="1200"/>
              </a:spcBef>
              <a:spcAft>
                <a:spcPts val="0"/>
              </a:spcAft>
              <a:buNone/>
            </a:pPr>
            <a:r>
              <a:rPr lang="zh-TW" sz="1200">
                <a:solidFill>
                  <a:srgbClr val="0077AA"/>
                </a:solidFill>
                <a:highlight>
                  <a:srgbClr val="F8F8F8"/>
                </a:highlight>
                <a:latin typeface="Consolas"/>
                <a:ea typeface="Consolas"/>
                <a:cs typeface="Consolas"/>
                <a:sym typeface="Consolas"/>
              </a:rPr>
              <a:t>SELECT</a:t>
            </a:r>
            <a:r>
              <a:rPr lang="zh-TW" sz="1200">
                <a:highlight>
                  <a:srgbClr val="F8F8F8"/>
                </a:highlight>
                <a:latin typeface="Consolas"/>
                <a:ea typeface="Consolas"/>
                <a:cs typeface="Consolas"/>
                <a:sym typeface="Consolas"/>
              </a:rPr>
              <a:t> </a:t>
            </a:r>
            <a:r>
              <a:rPr lang="zh-TW" sz="1200">
                <a:solidFill>
                  <a:srgbClr val="A67F59"/>
                </a:solidFill>
                <a:highlight>
                  <a:srgbClr val="F8F8F8"/>
                </a:highlight>
                <a:latin typeface="Consolas"/>
                <a:ea typeface="Consolas"/>
                <a:cs typeface="Consolas"/>
                <a:sym typeface="Consolas"/>
              </a:rPr>
              <a:t>*</a:t>
            </a:r>
            <a:r>
              <a:rPr lang="zh-TW" sz="1200">
                <a:highlight>
                  <a:srgbClr val="F8F8F8"/>
                </a:highlight>
                <a:latin typeface="Consolas"/>
                <a:ea typeface="Consolas"/>
                <a:cs typeface="Consolas"/>
                <a:sym typeface="Consolas"/>
              </a:rPr>
              <a:t> </a:t>
            </a:r>
            <a:r>
              <a:rPr lang="zh-TW" sz="1200">
                <a:solidFill>
                  <a:srgbClr val="0077AA"/>
                </a:solidFill>
                <a:highlight>
                  <a:srgbClr val="F8F8F8"/>
                </a:highlight>
                <a:latin typeface="Consolas"/>
                <a:ea typeface="Consolas"/>
                <a:cs typeface="Consolas"/>
                <a:sym typeface="Consolas"/>
              </a:rPr>
              <a:t>FROM</a:t>
            </a:r>
            <a:r>
              <a:rPr lang="zh-TW" sz="1200">
                <a:highlight>
                  <a:srgbClr val="F8F8F8"/>
                </a:highlight>
                <a:latin typeface="Consolas"/>
                <a:ea typeface="Consolas"/>
                <a:cs typeface="Consolas"/>
                <a:sym typeface="Consolas"/>
              </a:rPr>
              <a:t> INFORMATION_SCHEMA</a:t>
            </a:r>
            <a:r>
              <a:rPr lang="zh-TW" sz="1200">
                <a:solidFill>
                  <a:srgbClr val="999999"/>
                </a:solidFill>
                <a:highlight>
                  <a:srgbClr val="F8F8F8"/>
                </a:highlight>
                <a:latin typeface="Consolas"/>
                <a:ea typeface="Consolas"/>
                <a:cs typeface="Consolas"/>
                <a:sym typeface="Consolas"/>
              </a:rPr>
              <a:t>.</a:t>
            </a:r>
            <a:r>
              <a:rPr lang="zh-TW" sz="1200">
                <a:highlight>
                  <a:srgbClr val="F8F8F8"/>
                </a:highlight>
                <a:latin typeface="Consolas"/>
                <a:ea typeface="Consolas"/>
                <a:cs typeface="Consolas"/>
                <a:sym typeface="Consolas"/>
              </a:rPr>
              <a:t>STATISTICS  </a:t>
            </a:r>
            <a:r>
              <a:rPr lang="zh-TW" sz="1200">
                <a:solidFill>
                  <a:srgbClr val="0077AA"/>
                </a:solidFill>
                <a:highlight>
                  <a:srgbClr val="F8F8F8"/>
                </a:highlight>
                <a:latin typeface="Consolas"/>
                <a:ea typeface="Consolas"/>
                <a:cs typeface="Consolas"/>
                <a:sym typeface="Consolas"/>
              </a:rPr>
              <a:t>WHERE</a:t>
            </a:r>
            <a:r>
              <a:rPr lang="zh-TW" sz="1200">
                <a:highlight>
                  <a:srgbClr val="F8F8F8"/>
                </a:highlight>
                <a:latin typeface="Consolas"/>
                <a:ea typeface="Consolas"/>
                <a:cs typeface="Consolas"/>
                <a:sym typeface="Consolas"/>
              </a:rPr>
              <a:t> </a:t>
            </a:r>
            <a:r>
              <a:rPr lang="zh-TW" sz="1200">
                <a:solidFill>
                  <a:srgbClr val="0077AA"/>
                </a:solidFill>
                <a:highlight>
                  <a:srgbClr val="F8F8F8"/>
                </a:highlight>
                <a:latin typeface="Consolas"/>
                <a:ea typeface="Consolas"/>
                <a:cs typeface="Consolas"/>
                <a:sym typeface="Consolas"/>
              </a:rPr>
              <a:t>table_name</a:t>
            </a:r>
            <a:r>
              <a:rPr lang="zh-TW" sz="1200">
                <a:highlight>
                  <a:srgbClr val="F8F8F8"/>
                </a:highlight>
                <a:latin typeface="Consolas"/>
                <a:ea typeface="Consolas"/>
                <a:cs typeface="Consolas"/>
                <a:sym typeface="Consolas"/>
              </a:rPr>
              <a:t> </a:t>
            </a:r>
            <a:r>
              <a:rPr lang="zh-TW" sz="1200">
                <a:solidFill>
                  <a:srgbClr val="A67F59"/>
                </a:solidFill>
                <a:highlight>
                  <a:srgbClr val="F8F8F8"/>
                </a:highlight>
                <a:latin typeface="Consolas"/>
                <a:ea typeface="Consolas"/>
                <a:cs typeface="Consolas"/>
                <a:sym typeface="Consolas"/>
              </a:rPr>
              <a:t>=</a:t>
            </a:r>
            <a:r>
              <a:rPr lang="zh-TW" sz="1200">
                <a:highlight>
                  <a:srgbClr val="F8F8F8"/>
                </a:highlight>
                <a:latin typeface="Consolas"/>
                <a:ea typeface="Consolas"/>
                <a:cs typeface="Consolas"/>
                <a:sym typeface="Consolas"/>
              </a:rPr>
              <a:t> </a:t>
            </a:r>
            <a:r>
              <a:rPr lang="zh-TW" sz="1200">
                <a:solidFill>
                  <a:srgbClr val="669900"/>
                </a:solidFill>
                <a:highlight>
                  <a:srgbClr val="F8F8F8"/>
                </a:highlight>
                <a:latin typeface="Consolas"/>
                <a:ea typeface="Consolas"/>
                <a:cs typeface="Consolas"/>
                <a:sym typeface="Consolas"/>
              </a:rPr>
              <a:t>'</a:t>
            </a:r>
            <a:r>
              <a:rPr i="1" lang="zh-TW" sz="1200">
                <a:solidFill>
                  <a:srgbClr val="669900"/>
                </a:solidFill>
                <a:highlight>
                  <a:srgbClr val="F8F8F8"/>
                </a:highlight>
                <a:latin typeface="Consolas"/>
                <a:ea typeface="Consolas"/>
                <a:cs typeface="Consolas"/>
                <a:sym typeface="Consolas"/>
              </a:rPr>
              <a:t>tbl_name</a:t>
            </a:r>
            <a:r>
              <a:rPr lang="zh-TW" sz="1200">
                <a:solidFill>
                  <a:srgbClr val="669900"/>
                </a:solidFill>
                <a:highlight>
                  <a:srgbClr val="F8F8F8"/>
                </a:highlight>
                <a:latin typeface="Consolas"/>
                <a:ea typeface="Consolas"/>
                <a:cs typeface="Consolas"/>
                <a:sym typeface="Consolas"/>
              </a:rPr>
              <a:t>'</a:t>
            </a:r>
            <a:r>
              <a:rPr lang="zh-TW" sz="1200">
                <a:highlight>
                  <a:srgbClr val="F8F8F8"/>
                </a:highlight>
                <a:latin typeface="Consolas"/>
                <a:ea typeface="Consolas"/>
                <a:cs typeface="Consolas"/>
                <a:sym typeface="Consolas"/>
              </a:rPr>
              <a:t>  </a:t>
            </a:r>
            <a:r>
              <a:rPr lang="zh-TW" sz="1200">
                <a:solidFill>
                  <a:srgbClr val="A67F59"/>
                </a:solidFill>
                <a:highlight>
                  <a:srgbClr val="F8F8F8"/>
                </a:highlight>
                <a:latin typeface="Consolas"/>
                <a:ea typeface="Consolas"/>
                <a:cs typeface="Consolas"/>
                <a:sym typeface="Consolas"/>
              </a:rPr>
              <a:t>AND</a:t>
            </a:r>
            <a:r>
              <a:rPr lang="zh-TW" sz="1200">
                <a:highlight>
                  <a:srgbClr val="F8F8F8"/>
                </a:highlight>
                <a:latin typeface="Consolas"/>
                <a:ea typeface="Consolas"/>
                <a:cs typeface="Consolas"/>
                <a:sym typeface="Consolas"/>
              </a:rPr>
              <a:t> table_schema </a:t>
            </a:r>
            <a:r>
              <a:rPr lang="zh-TW" sz="1200">
                <a:solidFill>
                  <a:srgbClr val="A67F59"/>
                </a:solidFill>
                <a:highlight>
                  <a:srgbClr val="F8F8F8"/>
                </a:highlight>
                <a:latin typeface="Consolas"/>
                <a:ea typeface="Consolas"/>
                <a:cs typeface="Consolas"/>
                <a:sym typeface="Consolas"/>
              </a:rPr>
              <a:t>=</a:t>
            </a:r>
            <a:r>
              <a:rPr lang="zh-TW" sz="1200">
                <a:highlight>
                  <a:srgbClr val="F8F8F8"/>
                </a:highlight>
                <a:latin typeface="Consolas"/>
                <a:ea typeface="Consolas"/>
                <a:cs typeface="Consolas"/>
                <a:sym typeface="Consolas"/>
              </a:rPr>
              <a:t> </a:t>
            </a:r>
            <a:r>
              <a:rPr lang="zh-TW" sz="1200">
                <a:solidFill>
                  <a:srgbClr val="669900"/>
                </a:solidFill>
                <a:highlight>
                  <a:srgbClr val="F8F8F8"/>
                </a:highlight>
                <a:latin typeface="Consolas"/>
                <a:ea typeface="Consolas"/>
                <a:cs typeface="Consolas"/>
                <a:sym typeface="Consolas"/>
              </a:rPr>
              <a:t>'</a:t>
            </a:r>
            <a:r>
              <a:rPr i="1" lang="zh-TW" sz="1200">
                <a:solidFill>
                  <a:srgbClr val="669900"/>
                </a:solidFill>
                <a:highlight>
                  <a:srgbClr val="F8F8F8"/>
                </a:highlight>
                <a:latin typeface="Consolas"/>
                <a:ea typeface="Consolas"/>
                <a:cs typeface="Consolas"/>
                <a:sym typeface="Consolas"/>
              </a:rPr>
              <a:t>db_name</a:t>
            </a:r>
            <a:r>
              <a:rPr lang="zh-TW" sz="1200">
                <a:solidFill>
                  <a:srgbClr val="669900"/>
                </a:solidFill>
                <a:highlight>
                  <a:srgbClr val="F8F8F8"/>
                </a:highlight>
                <a:latin typeface="Consolas"/>
                <a:ea typeface="Consolas"/>
                <a:cs typeface="Consolas"/>
                <a:sym typeface="Consolas"/>
              </a:rPr>
              <a:t>'</a:t>
            </a:r>
            <a:endParaRPr sz="1200">
              <a:highlight>
                <a:srgbClr val="F8F8F8"/>
              </a:highlight>
              <a:latin typeface="Consolas"/>
              <a:ea typeface="Consolas"/>
              <a:cs typeface="Consolas"/>
              <a:sym typeface="Consolas"/>
            </a:endParaRPr>
          </a:p>
          <a:p>
            <a:pPr indent="0" lvl="0" marL="0" rtl="0" algn="l">
              <a:spcBef>
                <a:spcPts val="1200"/>
              </a:spcBef>
              <a:spcAft>
                <a:spcPts val="1200"/>
              </a:spcAft>
              <a:buNone/>
            </a:pPr>
            <a:r>
              <a:rPr lang="zh-TW" sz="1200">
                <a:solidFill>
                  <a:srgbClr val="0077AA"/>
                </a:solidFill>
                <a:highlight>
                  <a:srgbClr val="F8F8F8"/>
                </a:highlight>
                <a:latin typeface="Consolas"/>
                <a:ea typeface="Consolas"/>
                <a:cs typeface="Consolas"/>
                <a:sym typeface="Consolas"/>
              </a:rPr>
              <a:t>SHOW</a:t>
            </a:r>
            <a:r>
              <a:rPr lang="zh-TW" sz="1200">
                <a:highlight>
                  <a:srgbClr val="F8F8F8"/>
                </a:highlight>
                <a:latin typeface="Consolas"/>
                <a:ea typeface="Consolas"/>
                <a:cs typeface="Consolas"/>
                <a:sym typeface="Consolas"/>
              </a:rPr>
              <a:t> </a:t>
            </a:r>
            <a:r>
              <a:rPr lang="zh-TW" sz="1200">
                <a:solidFill>
                  <a:srgbClr val="0077AA"/>
                </a:solidFill>
                <a:highlight>
                  <a:srgbClr val="F8F8F8"/>
                </a:highlight>
                <a:latin typeface="Consolas"/>
                <a:ea typeface="Consolas"/>
                <a:cs typeface="Consolas"/>
                <a:sym typeface="Consolas"/>
              </a:rPr>
              <a:t>INDEX</a:t>
            </a:r>
            <a:r>
              <a:rPr lang="zh-TW" sz="1200">
                <a:highlight>
                  <a:srgbClr val="F8F8F8"/>
                </a:highlight>
                <a:latin typeface="Consolas"/>
                <a:ea typeface="Consolas"/>
                <a:cs typeface="Consolas"/>
                <a:sym typeface="Consolas"/>
              </a:rPr>
              <a:t>  </a:t>
            </a:r>
            <a:r>
              <a:rPr lang="zh-TW" sz="1200">
                <a:solidFill>
                  <a:srgbClr val="0077AA"/>
                </a:solidFill>
                <a:highlight>
                  <a:srgbClr val="F8F8F8"/>
                </a:highlight>
                <a:latin typeface="Consolas"/>
                <a:ea typeface="Consolas"/>
                <a:cs typeface="Consolas"/>
                <a:sym typeface="Consolas"/>
              </a:rPr>
              <a:t>FROM</a:t>
            </a:r>
            <a:r>
              <a:rPr lang="zh-TW" sz="1200">
                <a:highlight>
                  <a:srgbClr val="F8F8F8"/>
                </a:highlight>
                <a:latin typeface="Consolas"/>
                <a:ea typeface="Consolas"/>
                <a:cs typeface="Consolas"/>
                <a:sym typeface="Consolas"/>
              </a:rPr>
              <a:t> </a:t>
            </a:r>
            <a:r>
              <a:rPr i="1" lang="zh-TW" sz="1200">
                <a:highlight>
                  <a:srgbClr val="F8F8F8"/>
                </a:highlight>
                <a:latin typeface="Consolas"/>
                <a:ea typeface="Consolas"/>
                <a:cs typeface="Consolas"/>
                <a:sym typeface="Consolas"/>
              </a:rPr>
              <a:t>tbl_name</a:t>
            </a:r>
            <a:r>
              <a:rPr lang="zh-TW" sz="1200">
                <a:highlight>
                  <a:srgbClr val="F8F8F8"/>
                </a:highlight>
                <a:latin typeface="Consolas"/>
                <a:ea typeface="Consolas"/>
                <a:cs typeface="Consolas"/>
                <a:sym typeface="Consolas"/>
              </a:rPr>
              <a:t>  </a:t>
            </a:r>
            <a:r>
              <a:rPr lang="zh-TW" sz="1200">
                <a:solidFill>
                  <a:srgbClr val="0077AA"/>
                </a:solidFill>
                <a:highlight>
                  <a:srgbClr val="F8F8F8"/>
                </a:highlight>
                <a:latin typeface="Consolas"/>
                <a:ea typeface="Consolas"/>
                <a:cs typeface="Consolas"/>
                <a:sym typeface="Consolas"/>
              </a:rPr>
              <a:t>FROM</a:t>
            </a:r>
            <a:r>
              <a:rPr lang="zh-TW" sz="1200">
                <a:highlight>
                  <a:srgbClr val="F8F8F8"/>
                </a:highlight>
                <a:latin typeface="Consolas"/>
                <a:ea typeface="Consolas"/>
                <a:cs typeface="Consolas"/>
                <a:sym typeface="Consolas"/>
              </a:rPr>
              <a:t> </a:t>
            </a:r>
            <a:r>
              <a:rPr i="1" lang="zh-TW" sz="1200">
                <a:highlight>
                  <a:srgbClr val="F8F8F8"/>
                </a:highlight>
                <a:latin typeface="Consolas"/>
                <a:ea typeface="Consolas"/>
                <a:cs typeface="Consolas"/>
                <a:sym typeface="Consolas"/>
              </a:rPr>
              <a:t>db_name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3"/>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選擇性 selectivity</a:t>
            </a:r>
            <a:endParaRPr/>
          </a:p>
        </p:txBody>
      </p:sp>
      <p:sp>
        <p:nvSpPr>
          <p:cNvPr id="250" name="Google Shape;250;p43"/>
          <p:cNvSpPr txBox="1"/>
          <p:nvPr>
            <p:ph idx="1" type="body"/>
          </p:nvPr>
        </p:nvSpPr>
        <p:spPr>
          <a:xfrm>
            <a:off x="311700" y="1225225"/>
            <a:ext cx="8520600" cy="3354000"/>
          </a:xfrm>
          <a:prstGeom prst="rect">
            <a:avLst/>
          </a:prstGeom>
        </p:spPr>
        <p:txBody>
          <a:bodyPr anchorCtr="0" anchor="ctr" bIns="91425" lIns="91425" spcFirstLastPara="1" rIns="91425" wrap="square" tIns="91425">
            <a:normAutofit/>
          </a:bodyPr>
          <a:lstStyle/>
          <a:p>
            <a:pPr indent="0" lvl="0" marL="457200" rtl="0" algn="l">
              <a:spcBef>
                <a:spcPts val="0"/>
              </a:spcBef>
              <a:spcAft>
                <a:spcPts val="0"/>
              </a:spcAft>
              <a:buNone/>
            </a:pPr>
            <a:r>
              <a:rPr lang="zh-TW" sz="2100"/>
              <a:t> = SELECT distanct field / SELECT count(*)  </a:t>
            </a:r>
            <a:endParaRPr sz="2100"/>
          </a:p>
          <a:p>
            <a:pPr indent="0" lvl="0" marL="457200" rtl="0" algn="l">
              <a:spcBef>
                <a:spcPts val="1200"/>
              </a:spcBef>
              <a:spcAft>
                <a:spcPts val="0"/>
              </a:spcAft>
              <a:buNone/>
            </a:pPr>
            <a:r>
              <a:rPr lang="zh-TW" sz="2100"/>
              <a:t>低於 30 % 可能就不是太好的選擇</a:t>
            </a:r>
            <a:endParaRPr sz="2100"/>
          </a:p>
          <a:p>
            <a:pPr indent="0" lvl="0" marL="457200" rtl="0" algn="l">
              <a:spcBef>
                <a:spcPts val="1200"/>
              </a:spcBef>
              <a:spcAft>
                <a:spcPts val="1200"/>
              </a:spcAft>
              <a:buNone/>
            </a:pPr>
            <a:r>
              <a:rPr lang="zh-TW" sz="2100"/>
              <a:t>太低會導致優化器不採用</a:t>
            </a:r>
            <a:endParaRPr sz="21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4"/>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zh-TW"/>
              <a:t>二級索引在哪些情況</a:t>
            </a:r>
            <a:endParaRPr/>
          </a:p>
          <a:p>
            <a:pPr indent="0" lvl="0" marL="0" rtl="0" algn="ctr">
              <a:spcBef>
                <a:spcPts val="0"/>
              </a:spcBef>
              <a:spcAft>
                <a:spcPts val="0"/>
              </a:spcAft>
              <a:buNone/>
            </a:pPr>
            <a:r>
              <a:rPr lang="zh-TW"/>
              <a:t>可能會失效呢？</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隱式型別轉換 (用數字查字串 )</a:t>
            </a:r>
            <a:endParaRPr/>
          </a:p>
        </p:txBody>
      </p:sp>
      <p:sp>
        <p:nvSpPr>
          <p:cNvPr id="261" name="Google Shape;261;p45"/>
          <p:cNvSpPr txBox="1"/>
          <p:nvPr>
            <p:ph idx="1" type="body"/>
          </p:nvPr>
        </p:nvSpPr>
        <p:spPr>
          <a:xfrm>
            <a:off x="311700" y="1225225"/>
            <a:ext cx="8520600" cy="3354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zh-TW" sz="2000"/>
              <a:t>product_id  </a:t>
            </a:r>
            <a:r>
              <a:rPr lang="zh-TW" sz="2000">
                <a:solidFill>
                  <a:srgbClr val="FF0000"/>
                </a:solidFill>
              </a:rPr>
              <a:t>varchar </a:t>
            </a:r>
            <a:endParaRPr sz="2000">
              <a:solidFill>
                <a:srgbClr val="FF0000"/>
              </a:solidFill>
            </a:endParaRPr>
          </a:p>
          <a:p>
            <a:pPr indent="0" lvl="0" marL="0" rtl="0" algn="l">
              <a:spcBef>
                <a:spcPts val="1200"/>
              </a:spcBef>
              <a:spcAft>
                <a:spcPts val="0"/>
              </a:spcAft>
              <a:buNone/>
            </a:pPr>
            <a:r>
              <a:rPr lang="zh-TW" sz="2000"/>
              <a:t>key ( </a:t>
            </a:r>
            <a:r>
              <a:rPr lang="zh-TW" sz="2000"/>
              <a:t>product_id </a:t>
            </a:r>
            <a:r>
              <a:rPr lang="zh-TW" sz="2000"/>
              <a:t>)</a:t>
            </a:r>
            <a:endParaRPr sz="2000"/>
          </a:p>
          <a:p>
            <a:pPr indent="0" lvl="0" marL="0" rtl="0" algn="l">
              <a:spcBef>
                <a:spcPts val="1200"/>
              </a:spcBef>
              <a:spcAft>
                <a:spcPts val="0"/>
              </a:spcAft>
              <a:buNone/>
            </a:pPr>
            <a:r>
              <a:t/>
            </a:r>
            <a:endParaRPr sz="2000"/>
          </a:p>
          <a:p>
            <a:pPr indent="0" lvl="0" marL="0" rtl="0" algn="l">
              <a:spcBef>
                <a:spcPts val="1200"/>
              </a:spcBef>
              <a:spcAft>
                <a:spcPts val="1200"/>
              </a:spcAft>
              <a:buNone/>
            </a:pPr>
            <a:r>
              <a:rPr lang="zh-TW" sz="2000"/>
              <a:t>SELECT name WHERE </a:t>
            </a:r>
            <a:r>
              <a:rPr lang="zh-TW" sz="2000"/>
              <a:t>product_id = </a:t>
            </a:r>
            <a:r>
              <a:rPr lang="zh-TW" sz="2000">
                <a:solidFill>
                  <a:srgbClr val="FF9900"/>
                </a:solidFill>
              </a:rPr>
              <a:t>1999</a:t>
            </a:r>
            <a:r>
              <a:rPr lang="zh-TW" sz="2000"/>
              <a:t> ;</a:t>
            </a:r>
            <a:endParaRPr sz="20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like '%查詢條件'</a:t>
            </a:r>
            <a:endParaRPr/>
          </a:p>
        </p:txBody>
      </p:sp>
      <p:pic>
        <p:nvPicPr>
          <p:cNvPr id="267" name="Google Shape;267;p46"/>
          <p:cNvPicPr preferRelativeResize="0"/>
          <p:nvPr/>
        </p:nvPicPr>
        <p:blipFill>
          <a:blip r:embed="rId3">
            <a:alphaModFix/>
          </a:blip>
          <a:stretch>
            <a:fillRect/>
          </a:stretch>
        </p:blipFill>
        <p:spPr>
          <a:xfrm>
            <a:off x="4222450" y="1407025"/>
            <a:ext cx="4921552" cy="3061051"/>
          </a:xfrm>
          <a:prstGeom prst="rect">
            <a:avLst/>
          </a:prstGeom>
          <a:noFill/>
          <a:ln>
            <a:noFill/>
          </a:ln>
        </p:spPr>
      </p:pic>
      <p:pic>
        <p:nvPicPr>
          <p:cNvPr id="268" name="Google Shape;268;p46"/>
          <p:cNvPicPr preferRelativeResize="0"/>
          <p:nvPr/>
        </p:nvPicPr>
        <p:blipFill>
          <a:blip r:embed="rId4">
            <a:alphaModFix/>
          </a:blip>
          <a:stretch>
            <a:fillRect/>
          </a:stretch>
        </p:blipFill>
        <p:spPr>
          <a:xfrm>
            <a:off x="-47000" y="1563250"/>
            <a:ext cx="4419224" cy="274859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key_col OR no_key_col</a:t>
            </a:r>
            <a:endParaRPr/>
          </a:p>
        </p:txBody>
      </p:sp>
      <p:sp>
        <p:nvSpPr>
          <p:cNvPr id="274" name="Google Shape;274;p47"/>
          <p:cNvSpPr txBox="1"/>
          <p:nvPr>
            <p:ph idx="1" type="body"/>
          </p:nvPr>
        </p:nvSpPr>
        <p:spPr>
          <a:xfrm>
            <a:off x="311700" y="1225225"/>
            <a:ext cx="8520600" cy="34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zh-TW"/>
              <a:t>因為 no_key_col 還是要回表查</a:t>
            </a:r>
            <a:r>
              <a:rPr lang="zh-TW"/>
              <a:t>，</a:t>
            </a:r>
            <a:r>
              <a:rPr lang="zh-TW"/>
              <a:t>那不如直接查 叢集索引 (clustered index)</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zh-TW"/>
              <a:t>ALL: ABCD</a:t>
            </a:r>
            <a:endParaRPr/>
          </a:p>
          <a:p>
            <a:pPr indent="0" lvl="0" marL="0" rtl="0" algn="l">
              <a:spcBef>
                <a:spcPts val="1200"/>
              </a:spcBef>
              <a:spcAft>
                <a:spcPts val="0"/>
              </a:spcAft>
              <a:buNone/>
            </a:pPr>
            <a:r>
              <a:rPr lang="zh-TW"/>
              <a:t>index AB + ABCD</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zh-TW"/>
              <a:t>但是，當 OR 查詢為覆蓋索引時 (key1_col OR key2_col)，可使用 INDEX MERGE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key_part2 = y and key_part3 = x</a:t>
            </a:r>
            <a:endParaRPr/>
          </a:p>
        </p:txBody>
      </p:sp>
      <p:sp>
        <p:nvSpPr>
          <p:cNvPr id="280" name="Google Shape;280;p48"/>
          <p:cNvSpPr txBox="1"/>
          <p:nvPr>
            <p:ph idx="1" type="body"/>
          </p:nvPr>
        </p:nvSpPr>
        <p:spPr>
          <a:xfrm>
            <a:off x="311700" y="1225225"/>
            <a:ext cx="3384000" cy="3354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zh-TW"/>
              <a:t>聯合索引，查詢時的條件列不是聯合索引中的第一個列 ( …)</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pic>
        <p:nvPicPr>
          <p:cNvPr id="281" name="Google Shape;281;p48"/>
          <p:cNvPicPr preferRelativeResize="0"/>
          <p:nvPr/>
        </p:nvPicPr>
        <p:blipFill>
          <a:blip r:embed="rId3">
            <a:alphaModFix/>
          </a:blip>
          <a:stretch>
            <a:fillRect/>
          </a:stretch>
        </p:blipFill>
        <p:spPr>
          <a:xfrm>
            <a:off x="3512324" y="1355025"/>
            <a:ext cx="5631673" cy="35027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二級索引哪些情況可能會失效呢？</a:t>
            </a:r>
            <a:endParaRPr/>
          </a:p>
        </p:txBody>
      </p:sp>
      <p:sp>
        <p:nvSpPr>
          <p:cNvPr id="287" name="Google Shape;287;p49"/>
          <p:cNvSpPr txBox="1"/>
          <p:nvPr>
            <p:ph idx="1" type="body"/>
          </p:nvPr>
        </p:nvSpPr>
        <p:spPr>
          <a:xfrm>
            <a:off x="311700" y="1225225"/>
            <a:ext cx="8520600" cy="3354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zh-TW"/>
              <a:t>使用內建函數 或 進行運算（如，+、-、*、/）時，索引不是對應的函式索引 ( … where id +1 = 10)</a:t>
            </a:r>
            <a:endParaRPr/>
          </a:p>
          <a:p>
            <a:pPr indent="0" lvl="0" marL="0" rtl="0" algn="l">
              <a:spcBef>
                <a:spcPts val="1200"/>
              </a:spcBef>
              <a:spcAft>
                <a:spcPts val="0"/>
              </a:spcAft>
              <a:buNone/>
            </a:pPr>
            <a:r>
              <a:rPr lang="zh-TW"/>
              <a:t>JOIN 時，欄位編碼格式不一樣 ( Latin1 ⇔  UTF-8)</a:t>
            </a:r>
            <a:endParaRPr/>
          </a:p>
          <a:p>
            <a:pPr indent="0" lvl="0" marL="0" rtl="0" algn="l">
              <a:spcBef>
                <a:spcPts val="1200"/>
              </a:spcBef>
              <a:spcAft>
                <a:spcPts val="0"/>
              </a:spcAft>
              <a:buNone/>
            </a:pPr>
            <a:r>
              <a:rPr lang="zh-TW"/>
              <a:t>索引被設定成 Invisible 或 sql 提示 IGNORE </a:t>
            </a:r>
            <a:endParaRPr/>
          </a:p>
          <a:p>
            <a:pPr indent="0" lvl="0" marL="0" rtl="0" algn="l">
              <a:spcBef>
                <a:spcPts val="1200"/>
              </a:spcBef>
              <a:spcAft>
                <a:spcPts val="1200"/>
              </a:spcAft>
              <a:buClr>
                <a:schemeClr val="dk1"/>
              </a:buClr>
              <a:buSzPts val="1100"/>
              <a:buFont typeface="Arial"/>
              <a:buNone/>
            </a:pPr>
            <a:r>
              <a:rPr lang="zh-TW">
                <a:solidFill>
                  <a:srgbClr val="980000"/>
                </a:solidFill>
              </a:rPr>
              <a:t>優化器認為全表掃描要比使用索引快 (Cost base)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50"/>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zh-TW"/>
              <a:t>Index </a:t>
            </a:r>
            <a:r>
              <a:rPr lang="zh-TW"/>
              <a:t>優化查詢</a:t>
            </a:r>
            <a:r>
              <a:rPr lang="zh-TW"/>
              <a:t>的背後原因</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51"/>
          <p:cNvSpPr txBox="1"/>
          <p:nvPr>
            <p:ph idx="1" type="body"/>
          </p:nvPr>
        </p:nvSpPr>
        <p:spPr>
          <a:xfrm>
            <a:off x="311700" y="1225225"/>
            <a:ext cx="8520600" cy="3354000"/>
          </a:xfrm>
          <a:prstGeom prst="rect">
            <a:avLst/>
          </a:prstGeom>
        </p:spPr>
        <p:txBody>
          <a:bodyPr anchorCtr="0" anchor="ctr"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lang="zh-TW"/>
              <a:t>Explain 的 extra 顯示 Using index</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zh-TW"/>
              <a:t>包含 SELECT, DISTINCT, MAX/MIN(),</a:t>
            </a:r>
            <a:endParaRPr/>
          </a:p>
          <a:p>
            <a:pPr indent="0" lvl="0" marL="0" rtl="0" algn="l">
              <a:spcBef>
                <a:spcPts val="1200"/>
              </a:spcBef>
              <a:spcAft>
                <a:spcPts val="0"/>
              </a:spcAft>
              <a:buNone/>
            </a:pPr>
            <a:r>
              <a:rPr lang="zh-TW"/>
              <a:t>判斷的條件 WHERE, HAVING</a:t>
            </a:r>
            <a:endParaRPr/>
          </a:p>
          <a:p>
            <a:pPr indent="0" lvl="0" marL="0" rtl="0" algn="l">
              <a:spcBef>
                <a:spcPts val="1200"/>
              </a:spcBef>
              <a:spcAft>
                <a:spcPts val="0"/>
              </a:spcAft>
              <a:buNone/>
            </a:pPr>
            <a:r>
              <a:rPr lang="zh-TW"/>
              <a:t>連接的條件 JOIN, GROUP BY</a:t>
            </a:r>
            <a:endParaRPr/>
          </a:p>
          <a:p>
            <a:pPr indent="0" lvl="0" marL="0" rtl="0" algn="l">
              <a:spcBef>
                <a:spcPts val="1200"/>
              </a:spcBef>
              <a:spcAft>
                <a:spcPts val="0"/>
              </a:spcAft>
              <a:buNone/>
            </a:pPr>
            <a:r>
              <a:rPr lang="zh-TW"/>
              <a:t>排序的條件 ORDER BY</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zh-TW"/>
              <a:t>如果都可以只從 index 就取得，就省下回表  (從叢集索引取額外資料) 的成本，這就是覆蓋索引。</a:t>
            </a:r>
            <a:endParaRPr/>
          </a:p>
          <a:p>
            <a:pPr indent="0" lvl="0" marL="0" rtl="0" algn="l">
              <a:spcBef>
                <a:spcPts val="1200"/>
              </a:spcBef>
              <a:spcAft>
                <a:spcPts val="1200"/>
              </a:spcAft>
              <a:buNone/>
            </a:pPr>
            <a:r>
              <a:t/>
            </a:r>
            <a:endParaRPr/>
          </a:p>
        </p:txBody>
      </p:sp>
      <p:sp>
        <p:nvSpPr>
          <p:cNvPr id="298" name="Google Shape;298;p5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覆蓋索引 (index covering)</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5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降序索引 Descending Indexes</a:t>
            </a:r>
            <a:endParaRPr/>
          </a:p>
        </p:txBody>
      </p:sp>
      <p:sp>
        <p:nvSpPr>
          <p:cNvPr id="304" name="Google Shape;304;p52"/>
          <p:cNvSpPr txBox="1"/>
          <p:nvPr>
            <p:ph idx="1" type="body"/>
          </p:nvPr>
        </p:nvSpPr>
        <p:spPr>
          <a:xfrm>
            <a:off x="311700" y="1225225"/>
            <a:ext cx="8520600" cy="3354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zh-TW"/>
              <a:t>其實5.7版本就可以反向使用升序(ASC)索引當降序(DESC)索引使用，雖然會耗費較多效能。</a:t>
            </a:r>
            <a:endParaRPr/>
          </a:p>
          <a:p>
            <a:pPr indent="0" lvl="0" marL="0" rtl="0" algn="l">
              <a:spcBef>
                <a:spcPts val="1200"/>
              </a:spcBef>
              <a:spcAft>
                <a:spcPts val="0"/>
              </a:spcAft>
              <a:buNone/>
            </a:pPr>
            <a:r>
              <a:rPr lang="zh-TW"/>
              <a:t>但問題是順序混合時就無法使用該索引 </a:t>
            </a:r>
            <a:endParaRPr/>
          </a:p>
          <a:p>
            <a:pPr indent="0" lvl="0" marL="0" rtl="0" algn="l">
              <a:spcBef>
                <a:spcPts val="1200"/>
              </a:spcBef>
              <a:spcAft>
                <a:spcPts val="0"/>
              </a:spcAft>
              <a:buNone/>
            </a:pPr>
            <a:r>
              <a:rPr lang="zh-TW"/>
              <a:t>(ex: ORDER BY a ASC , b DESC)</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zh-TW"/>
              <a:t>缺點</a:t>
            </a:r>
            <a:endParaRPr/>
          </a:p>
          <a:p>
            <a:pPr indent="0" lvl="0" marL="0" rtl="0" algn="l">
              <a:spcBef>
                <a:spcPts val="1200"/>
              </a:spcBef>
              <a:spcAft>
                <a:spcPts val="0"/>
              </a:spcAft>
              <a:buNone/>
            </a:pPr>
            <a:r>
              <a:rPr lang="zh-TW"/>
              <a:t>會導致 MIN()/MAX()無法使用該索引</a:t>
            </a:r>
            <a:endParaRPr/>
          </a:p>
          <a:p>
            <a:pPr indent="0" lvl="0" marL="0" rtl="0" algn="l">
              <a:spcBef>
                <a:spcPts val="1200"/>
              </a:spcBef>
              <a:spcAft>
                <a:spcPts val="1200"/>
              </a:spcAft>
              <a:buNone/>
            </a:pPr>
            <a:r>
              <a:rPr lang="zh-TW"/>
              <a:t>會無法使用 Change buffering ，如果是 primary key 更是會讓所有二級索引都不能使用</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53"/>
          <p:cNvSpPr txBox="1"/>
          <p:nvPr>
            <p:ph idx="1" type="body"/>
          </p:nvPr>
        </p:nvSpPr>
        <p:spPr>
          <a:xfrm>
            <a:off x="1377900" y="1147225"/>
            <a:ext cx="1028100" cy="3354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zh-TW"/>
              <a:t>=&gt;&gt;&gt;</a:t>
            </a:r>
            <a:endParaRPr/>
          </a:p>
          <a:p>
            <a:pPr indent="0" lvl="0" marL="0" rtl="0" algn="l">
              <a:spcBef>
                <a:spcPts val="1200"/>
              </a:spcBef>
              <a:spcAft>
                <a:spcPts val="0"/>
              </a:spcAft>
              <a:buNone/>
            </a:pPr>
            <a:r>
              <a:rPr lang="zh-TW"/>
              <a:t>A B C D</a:t>
            </a:r>
            <a:endParaRPr/>
          </a:p>
          <a:p>
            <a:pPr indent="0" lvl="0" marL="0" rtl="0" algn="l">
              <a:spcBef>
                <a:spcPts val="1200"/>
              </a:spcBef>
              <a:spcAft>
                <a:spcPts val="1200"/>
              </a:spcAft>
              <a:buNone/>
            </a:pPr>
            <a:r>
              <a:t/>
            </a:r>
            <a:endParaRPr/>
          </a:p>
        </p:txBody>
      </p:sp>
      <p:sp>
        <p:nvSpPr>
          <p:cNvPr id="310" name="Google Shape;310;p53"/>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zh-TW"/>
              <a:t>當使用索引(a DESC, b ASC)時</a:t>
            </a:r>
            <a:endParaRPr/>
          </a:p>
        </p:txBody>
      </p:sp>
      <p:sp>
        <p:nvSpPr>
          <p:cNvPr id="311" name="Google Shape;311;p53"/>
          <p:cNvSpPr txBox="1"/>
          <p:nvPr>
            <p:ph idx="1" type="body"/>
          </p:nvPr>
        </p:nvSpPr>
        <p:spPr>
          <a:xfrm>
            <a:off x="311700" y="1225225"/>
            <a:ext cx="1028100" cy="3354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zh-TW">
                <a:solidFill>
                  <a:srgbClr val="980000"/>
                </a:solidFill>
              </a:rPr>
              <a:t>=&gt;&gt;&gt; </a:t>
            </a:r>
            <a:endParaRPr>
              <a:solidFill>
                <a:srgbClr val="980000"/>
              </a:solidFill>
            </a:endParaRPr>
          </a:p>
          <a:p>
            <a:pPr indent="0" lvl="0" marL="0" rtl="0" algn="l">
              <a:spcBef>
                <a:spcPts val="1200"/>
              </a:spcBef>
              <a:spcAft>
                <a:spcPts val="0"/>
              </a:spcAft>
              <a:buNone/>
            </a:pPr>
            <a:r>
              <a:rPr lang="zh-TW">
                <a:solidFill>
                  <a:srgbClr val="980000"/>
                </a:solidFill>
              </a:rPr>
              <a:t>A B C D</a:t>
            </a:r>
            <a:endParaRPr>
              <a:solidFill>
                <a:srgbClr val="980000"/>
              </a:solidFill>
            </a:endParaRPr>
          </a:p>
          <a:p>
            <a:pPr indent="0" lvl="0" marL="0" rtl="0" algn="l">
              <a:spcBef>
                <a:spcPts val="1200"/>
              </a:spcBef>
              <a:spcAft>
                <a:spcPts val="0"/>
              </a:spcAft>
              <a:buNone/>
            </a:pPr>
            <a:r>
              <a:t/>
            </a:r>
            <a:endParaRPr>
              <a:solidFill>
                <a:srgbClr val="980000"/>
              </a:solidFill>
            </a:endParaRPr>
          </a:p>
          <a:p>
            <a:pPr indent="0" lvl="0" marL="0" rtl="0" algn="l">
              <a:spcBef>
                <a:spcPts val="1200"/>
              </a:spcBef>
              <a:spcAft>
                <a:spcPts val="0"/>
              </a:spcAft>
              <a:buNone/>
            </a:pPr>
            <a:r>
              <a:rPr lang="zh-TW">
                <a:solidFill>
                  <a:srgbClr val="980000"/>
                </a:solidFill>
              </a:rPr>
              <a:t>&lt;&lt;&lt;=</a:t>
            </a:r>
            <a:endParaRPr>
              <a:solidFill>
                <a:srgbClr val="980000"/>
              </a:solidFill>
            </a:endParaRPr>
          </a:p>
          <a:p>
            <a:pPr indent="0" lvl="0" marL="0" rtl="0" algn="l">
              <a:spcBef>
                <a:spcPts val="1200"/>
              </a:spcBef>
              <a:spcAft>
                <a:spcPts val="1200"/>
              </a:spcAft>
              <a:buNone/>
            </a:pPr>
            <a:r>
              <a:rPr lang="zh-TW">
                <a:solidFill>
                  <a:srgbClr val="980000"/>
                </a:solidFill>
              </a:rPr>
              <a:t>9 7 6 5</a:t>
            </a:r>
            <a:endParaRPr>
              <a:solidFill>
                <a:srgbClr val="980000"/>
              </a:solidFill>
            </a:endParaRPr>
          </a:p>
        </p:txBody>
      </p:sp>
      <p:sp>
        <p:nvSpPr>
          <p:cNvPr id="312" name="Google Shape;312;p53"/>
          <p:cNvSpPr txBox="1"/>
          <p:nvPr>
            <p:ph idx="1" type="body"/>
          </p:nvPr>
        </p:nvSpPr>
        <p:spPr>
          <a:xfrm>
            <a:off x="2327920" y="1147225"/>
            <a:ext cx="1028100" cy="3354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zh-TW"/>
              <a:t>&lt;&lt;&lt;=</a:t>
            </a:r>
            <a:endParaRPr/>
          </a:p>
          <a:p>
            <a:pPr indent="0" lvl="0" marL="0" rtl="0" algn="l">
              <a:spcBef>
                <a:spcPts val="1200"/>
              </a:spcBef>
              <a:spcAft>
                <a:spcPts val="0"/>
              </a:spcAft>
              <a:buNone/>
            </a:pPr>
            <a:r>
              <a:rPr lang="zh-TW"/>
              <a:t>DCBA</a:t>
            </a:r>
            <a:endParaRPr/>
          </a:p>
          <a:p>
            <a:pPr indent="0" lvl="0" marL="0" rtl="0" algn="l">
              <a:spcBef>
                <a:spcPts val="1200"/>
              </a:spcBef>
              <a:spcAft>
                <a:spcPts val="1200"/>
              </a:spcAft>
              <a:buNone/>
            </a:pPr>
            <a:r>
              <a:t/>
            </a:r>
            <a:endParaRPr/>
          </a:p>
        </p:txBody>
      </p:sp>
      <p:sp>
        <p:nvSpPr>
          <p:cNvPr id="313" name="Google Shape;313;p53"/>
          <p:cNvSpPr txBox="1"/>
          <p:nvPr>
            <p:ph idx="1" type="body"/>
          </p:nvPr>
        </p:nvSpPr>
        <p:spPr>
          <a:xfrm>
            <a:off x="3277940" y="1147225"/>
            <a:ext cx="1028100" cy="3354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zh-TW"/>
              <a:t>=&gt;&gt;&gt;</a:t>
            </a:r>
            <a:endParaRPr/>
          </a:p>
          <a:p>
            <a:pPr indent="0" lvl="0" marL="0" rtl="0" algn="l">
              <a:spcBef>
                <a:spcPts val="1200"/>
              </a:spcBef>
              <a:spcAft>
                <a:spcPts val="0"/>
              </a:spcAft>
              <a:buNone/>
            </a:pPr>
            <a:r>
              <a:rPr lang="zh-TW"/>
              <a:t>A B C D</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zh-TW"/>
              <a:t>&lt;&lt;&lt;=</a:t>
            </a:r>
            <a:endParaRPr/>
          </a:p>
          <a:p>
            <a:pPr indent="0" lvl="0" marL="0" rtl="0" algn="l">
              <a:spcBef>
                <a:spcPts val="1200"/>
              </a:spcBef>
              <a:spcAft>
                <a:spcPts val="1200"/>
              </a:spcAft>
              <a:buNone/>
            </a:pPr>
            <a:r>
              <a:rPr lang="zh-TW"/>
              <a:t>9 7 6 5</a:t>
            </a:r>
            <a:endParaRPr/>
          </a:p>
        </p:txBody>
      </p:sp>
      <p:sp>
        <p:nvSpPr>
          <p:cNvPr id="314" name="Google Shape;314;p53"/>
          <p:cNvSpPr txBox="1"/>
          <p:nvPr>
            <p:ph idx="1" type="body"/>
          </p:nvPr>
        </p:nvSpPr>
        <p:spPr>
          <a:xfrm>
            <a:off x="4227960" y="1147225"/>
            <a:ext cx="1028100" cy="3354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zh-TW"/>
              <a:t>&lt;&lt;&lt;</a:t>
            </a:r>
            <a:r>
              <a:rPr lang="zh-TW"/>
              <a:t>=</a:t>
            </a:r>
            <a:endParaRPr/>
          </a:p>
          <a:p>
            <a:pPr indent="0" lvl="0" marL="0" rtl="0" algn="l">
              <a:spcBef>
                <a:spcPts val="1200"/>
              </a:spcBef>
              <a:spcAft>
                <a:spcPts val="0"/>
              </a:spcAft>
              <a:buNone/>
            </a:pPr>
            <a:r>
              <a:rPr lang="zh-TW"/>
              <a:t>D B C A</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zh-TW"/>
              <a:t>=&gt;&gt;&gt;</a:t>
            </a:r>
            <a:endParaRPr/>
          </a:p>
          <a:p>
            <a:pPr indent="0" lvl="0" marL="0" rtl="0" algn="l">
              <a:spcBef>
                <a:spcPts val="1200"/>
              </a:spcBef>
              <a:spcAft>
                <a:spcPts val="1200"/>
              </a:spcAft>
              <a:buNone/>
            </a:pPr>
            <a:r>
              <a:rPr lang="zh-TW"/>
              <a:t>5 6 7 9</a:t>
            </a:r>
            <a:endParaRPr/>
          </a:p>
        </p:txBody>
      </p:sp>
      <p:sp>
        <p:nvSpPr>
          <p:cNvPr id="315" name="Google Shape;315;p53"/>
          <p:cNvSpPr txBox="1"/>
          <p:nvPr>
            <p:ph idx="1" type="body"/>
          </p:nvPr>
        </p:nvSpPr>
        <p:spPr>
          <a:xfrm>
            <a:off x="5177980" y="1147225"/>
            <a:ext cx="1028100" cy="3354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zh-TW"/>
              <a:t>=&gt;&gt;&gt;</a:t>
            </a:r>
            <a:endParaRPr/>
          </a:p>
          <a:p>
            <a:pPr indent="0" lvl="0" marL="0" rtl="0" algn="l">
              <a:spcBef>
                <a:spcPts val="1200"/>
              </a:spcBef>
              <a:spcAft>
                <a:spcPts val="0"/>
              </a:spcAft>
              <a:buNone/>
            </a:pPr>
            <a:r>
              <a:rPr lang="zh-TW"/>
              <a:t>A B C D</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zh-TW"/>
              <a:t>=&gt;&gt;&gt;</a:t>
            </a:r>
            <a:endParaRPr/>
          </a:p>
          <a:p>
            <a:pPr indent="0" lvl="0" marL="0" rtl="0" algn="l">
              <a:spcBef>
                <a:spcPts val="1200"/>
              </a:spcBef>
              <a:spcAft>
                <a:spcPts val="1200"/>
              </a:spcAft>
              <a:buNone/>
            </a:pPr>
            <a:r>
              <a:rPr lang="zh-TW"/>
              <a:t>???</a:t>
            </a:r>
            <a:endParaRPr/>
          </a:p>
        </p:txBody>
      </p:sp>
      <p:sp>
        <p:nvSpPr>
          <p:cNvPr id="316" name="Google Shape;316;p53"/>
          <p:cNvSpPr txBox="1"/>
          <p:nvPr>
            <p:ph idx="1" type="body"/>
          </p:nvPr>
        </p:nvSpPr>
        <p:spPr>
          <a:xfrm>
            <a:off x="6128000" y="1147225"/>
            <a:ext cx="1028100" cy="3354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zh-TW"/>
              <a:t>&lt;&lt;&lt;</a:t>
            </a:r>
            <a:r>
              <a:rPr lang="zh-TW"/>
              <a:t>=</a:t>
            </a:r>
            <a:endParaRPr/>
          </a:p>
          <a:p>
            <a:pPr indent="0" lvl="0" marL="0" rtl="0" algn="l">
              <a:spcBef>
                <a:spcPts val="1200"/>
              </a:spcBef>
              <a:spcAft>
                <a:spcPts val="0"/>
              </a:spcAft>
              <a:buNone/>
            </a:pPr>
            <a:r>
              <a:rPr lang="zh-TW"/>
              <a:t>D C B A</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zh-TW"/>
              <a:t>&lt;&lt;&lt;=</a:t>
            </a:r>
            <a:endParaRPr/>
          </a:p>
          <a:p>
            <a:pPr indent="0" lvl="0" marL="0" rtl="0" algn="l">
              <a:spcBef>
                <a:spcPts val="1200"/>
              </a:spcBef>
              <a:spcAft>
                <a:spcPts val="1200"/>
              </a:spcAft>
              <a:buNone/>
            </a:pPr>
            <a:r>
              <a:rPr lang="zh-TW"/>
              <a: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當使用索引(a DESC, b ASC)時</a:t>
            </a:r>
            <a:endParaRPr/>
          </a:p>
        </p:txBody>
      </p:sp>
      <p:pic>
        <p:nvPicPr>
          <p:cNvPr id="322" name="Google Shape;322;p54"/>
          <p:cNvPicPr preferRelativeResize="0"/>
          <p:nvPr/>
        </p:nvPicPr>
        <p:blipFill>
          <a:blip r:embed="rId3">
            <a:alphaModFix/>
          </a:blip>
          <a:stretch>
            <a:fillRect/>
          </a:stretch>
        </p:blipFill>
        <p:spPr>
          <a:xfrm>
            <a:off x="1224925" y="1147225"/>
            <a:ext cx="6694150" cy="3762000"/>
          </a:xfrm>
          <a:prstGeom prst="rect">
            <a:avLst/>
          </a:prstGeom>
          <a:noFill/>
          <a:ln>
            <a:noFill/>
          </a:ln>
        </p:spPr>
      </p:pic>
      <p:pic>
        <p:nvPicPr>
          <p:cNvPr id="323" name="Google Shape;323;p54"/>
          <p:cNvPicPr preferRelativeResize="0"/>
          <p:nvPr/>
        </p:nvPicPr>
        <p:blipFill>
          <a:blip r:embed="rId4">
            <a:alphaModFix/>
          </a:blip>
          <a:stretch>
            <a:fillRect/>
          </a:stretch>
        </p:blipFill>
        <p:spPr>
          <a:xfrm>
            <a:off x="1224925" y="1039100"/>
            <a:ext cx="7118549" cy="40005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功能索引(Functional index)</a:t>
            </a:r>
            <a:endParaRPr/>
          </a:p>
        </p:txBody>
      </p:sp>
      <p:sp>
        <p:nvSpPr>
          <p:cNvPr id="329" name="Google Shape;329;p55"/>
          <p:cNvSpPr txBox="1"/>
          <p:nvPr>
            <p:ph idx="1" type="body"/>
          </p:nvPr>
        </p:nvSpPr>
        <p:spPr>
          <a:xfrm>
            <a:off x="311700" y="1225225"/>
            <a:ext cx="8520600" cy="3354000"/>
          </a:xfrm>
          <a:prstGeom prst="rect">
            <a:avLst/>
          </a:prstGeom>
        </p:spPr>
        <p:txBody>
          <a:bodyPr anchorCtr="0" anchor="ctr" bIns="91425" lIns="91425" spcFirstLastPara="1" rIns="91425" wrap="square" tIns="91425">
            <a:normAutofit fontScale="92500" lnSpcReduction="20000"/>
          </a:bodyPr>
          <a:lstStyle/>
          <a:p>
            <a:pPr indent="0" lvl="0" marL="0" rtl="0" algn="l">
              <a:spcBef>
                <a:spcPts val="0"/>
              </a:spcBef>
              <a:spcAft>
                <a:spcPts val="0"/>
              </a:spcAft>
              <a:buNone/>
            </a:pPr>
            <a:r>
              <a:rPr lang="zh-TW"/>
              <a:t>表達式必須包含在括號中以將其與列區分開。</a:t>
            </a:r>
            <a:br>
              <a:rPr lang="zh-TW"/>
            </a:br>
            <a:r>
              <a:rPr lang="zh-TW"/>
              <a:t>ex: </a:t>
            </a:r>
            <a:r>
              <a:rPr lang="zh-TW" sz="1200">
                <a:solidFill>
                  <a:srgbClr val="0077AA"/>
                </a:solidFill>
                <a:highlight>
                  <a:srgbClr val="F8F8F8"/>
                </a:highlight>
                <a:latin typeface="Consolas"/>
                <a:ea typeface="Consolas"/>
                <a:cs typeface="Consolas"/>
                <a:sym typeface="Consolas"/>
              </a:rPr>
              <a:t>INDEX((col1 + col2)) 與 INDEX( col1, col2)</a:t>
            </a:r>
            <a:endParaRPr/>
          </a:p>
          <a:p>
            <a:pPr indent="0" lvl="0" marL="0" rtl="0" algn="l">
              <a:spcBef>
                <a:spcPts val="1200"/>
              </a:spcBef>
              <a:spcAft>
                <a:spcPts val="0"/>
              </a:spcAft>
              <a:buNone/>
            </a:pPr>
            <a:r>
              <a:rPr lang="zh-TW"/>
              <a:t>我們可以建立一個具有功能和非功能定義的索引。</a:t>
            </a:r>
            <a:br>
              <a:rPr lang="zh-TW"/>
            </a:br>
            <a:r>
              <a:rPr lang="zh-TW"/>
              <a:t>ex: </a:t>
            </a:r>
            <a:r>
              <a:rPr lang="zh-TW" sz="1200">
                <a:solidFill>
                  <a:srgbClr val="0077AA"/>
                </a:solidFill>
                <a:highlight>
                  <a:srgbClr val="F8F8F8"/>
                </a:highlight>
                <a:latin typeface="Consolas"/>
                <a:ea typeface="Consolas"/>
                <a:cs typeface="Consolas"/>
                <a:sym typeface="Consolas"/>
              </a:rPr>
              <a:t>INDEX((col1 + col2), col1)</a:t>
            </a:r>
            <a:endParaRPr/>
          </a:p>
          <a:p>
            <a:pPr indent="0" lvl="0" marL="0" rtl="0" algn="l">
              <a:spcBef>
                <a:spcPts val="1200"/>
              </a:spcBef>
              <a:spcAft>
                <a:spcPts val="0"/>
              </a:spcAft>
              <a:buNone/>
            </a:pPr>
            <a:r>
              <a:rPr lang="zh-TW"/>
              <a:t>功能索引定義不能只包含列名。</a:t>
            </a:r>
            <a:br>
              <a:rPr lang="zh-TW"/>
            </a:br>
            <a:r>
              <a:rPr lang="zh-TW"/>
              <a:t>ex:</a:t>
            </a:r>
            <a:r>
              <a:rPr lang="zh-TW" sz="1200">
                <a:solidFill>
                  <a:srgbClr val="0077AA"/>
                </a:solidFill>
                <a:highlight>
                  <a:srgbClr val="F8F8F8"/>
                </a:highlight>
                <a:latin typeface="Consolas"/>
                <a:ea typeface="Consolas"/>
                <a:cs typeface="Consolas"/>
                <a:sym typeface="Consolas"/>
              </a:rPr>
              <a:t> INDEX ((col1), (col2))</a:t>
            </a:r>
            <a:r>
              <a:rPr lang="zh-TW"/>
              <a:t> 會拋出錯誤。</a:t>
            </a:r>
            <a:endParaRPr/>
          </a:p>
          <a:p>
            <a:pPr indent="0" lvl="0" marL="0" rtl="0" algn="l">
              <a:spcBef>
                <a:spcPts val="1200"/>
              </a:spcBef>
              <a:spcAft>
                <a:spcPts val="0"/>
              </a:spcAft>
              <a:buNone/>
            </a:pPr>
            <a:r>
              <a:rPr lang="zh-TW"/>
              <a:t>不能使用不確定性的函數</a:t>
            </a:r>
            <a:endParaRPr/>
          </a:p>
          <a:p>
            <a:pPr indent="0" lvl="0" marL="0" rtl="0" algn="l">
              <a:spcBef>
                <a:spcPts val="1200"/>
              </a:spcBef>
              <a:spcAft>
                <a:spcPts val="0"/>
              </a:spcAft>
              <a:buNone/>
            </a:pPr>
            <a:r>
              <a:rPr lang="zh-TW"/>
              <a:t>ex: </a:t>
            </a:r>
            <a:r>
              <a:rPr lang="zh-TW" sz="1200">
                <a:solidFill>
                  <a:srgbClr val="0077AA"/>
                </a:solidFill>
                <a:highlight>
                  <a:srgbClr val="F8F8F8"/>
                </a:highlight>
                <a:latin typeface="Consolas"/>
                <a:ea typeface="Consolas"/>
                <a:cs typeface="Consolas"/>
                <a:sym typeface="Consolas"/>
              </a:rPr>
              <a:t>Rand(), UUID(),</a:t>
            </a:r>
            <a:r>
              <a:rPr lang="zh-TW"/>
              <a:t> </a:t>
            </a:r>
            <a:endParaRPr/>
          </a:p>
          <a:p>
            <a:pPr indent="0" lvl="0" marL="0" rtl="0" algn="l">
              <a:spcBef>
                <a:spcPts val="1200"/>
              </a:spcBef>
              <a:spcAft>
                <a:spcPts val="0"/>
              </a:spcAft>
              <a:buNone/>
            </a:pPr>
            <a:r>
              <a:rPr lang="zh-TW"/>
              <a:t>不允許使用子查詢、參數、變數、儲存函數和可載入函數。</a:t>
            </a:r>
            <a:endParaRPr/>
          </a:p>
          <a:p>
            <a:pPr indent="0" lvl="0" marL="0" rtl="0" algn="l">
              <a:spcBef>
                <a:spcPts val="1200"/>
              </a:spcBef>
              <a:spcAft>
                <a:spcPts val="0"/>
              </a:spcAft>
              <a:buNone/>
            </a:pPr>
            <a:r>
              <a:rPr lang="zh-TW"/>
              <a:t>主索引 (Primary key) 外部索引 (Foreign key) 不能包含功能索引部分，且功能索引部分不能引用列前綴</a:t>
            </a:r>
            <a:endParaRPr/>
          </a:p>
          <a:p>
            <a:pPr indent="0" lvl="0" marL="0" rtl="0" algn="l">
              <a:spcBef>
                <a:spcPts val="1200"/>
              </a:spcBef>
              <a:spcAft>
                <a:spcPts val="1200"/>
              </a:spcAft>
              <a:buNone/>
            </a:pPr>
            <a:r>
              <a:rPr b="1" lang="zh-TW">
                <a:solidFill>
                  <a:srgbClr val="A61C00"/>
                </a:solidFill>
              </a:rPr>
              <a:t>僅當查詢使用相同表達式時才會使用該功能索引</a:t>
            </a:r>
            <a:endParaRPr b="1">
              <a:solidFill>
                <a:srgbClr val="A61C00"/>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不可見索引 Invisible Indexes</a:t>
            </a:r>
            <a:endParaRPr/>
          </a:p>
        </p:txBody>
      </p:sp>
      <p:sp>
        <p:nvSpPr>
          <p:cNvPr id="335" name="Google Shape;335;p56"/>
          <p:cNvSpPr txBox="1"/>
          <p:nvPr>
            <p:ph idx="1" type="body"/>
          </p:nvPr>
        </p:nvSpPr>
        <p:spPr>
          <a:xfrm>
            <a:off x="311700" y="1225225"/>
            <a:ext cx="8520600" cy="3354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rPr lang="zh-TW"/>
              <a:t>軟刪除 (index soft delete)</a:t>
            </a:r>
            <a:endParaRPr/>
          </a:p>
          <a:p>
            <a:pPr indent="0" lvl="0" marL="0" rtl="0" algn="l">
              <a:spcBef>
                <a:spcPts val="1200"/>
              </a:spcBef>
              <a:spcAft>
                <a:spcPts val="0"/>
              </a:spcAft>
              <a:buNone/>
            </a:pPr>
            <a:r>
              <a:rPr lang="zh-TW"/>
              <a:t>分階段推出(Staged rollout) - 在適當時機開放使用 (離峰, 活動)</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zh-TW"/>
              <a:t>FORCE INDEX 無效</a:t>
            </a:r>
            <a:endParaRPr/>
          </a:p>
          <a:p>
            <a:pPr indent="0" lvl="0" marL="0" rtl="0" algn="l">
              <a:spcBef>
                <a:spcPts val="1200"/>
              </a:spcBef>
              <a:spcAft>
                <a:spcPts val="0"/>
              </a:spcAft>
              <a:buNone/>
            </a:pPr>
            <a:r>
              <a:rPr lang="zh-TW"/>
              <a:t>不能用於 Primary Key</a:t>
            </a:r>
            <a:endParaRPr/>
          </a:p>
          <a:p>
            <a:pPr indent="0" lvl="0" marL="0" rtl="0" algn="l">
              <a:spcBef>
                <a:spcPts val="1200"/>
              </a:spcBef>
              <a:spcAft>
                <a:spcPts val="1200"/>
              </a:spcAft>
              <a:buNone/>
            </a:pPr>
            <a:r>
              <a:rPr lang="zh-TW"/>
              <a:t>不可見意味不能使用，但仍然消耗資源持續維護它</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5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ICP (Index Condition Pushdown)</a:t>
            </a:r>
            <a:endParaRPr/>
          </a:p>
        </p:txBody>
      </p:sp>
      <p:sp>
        <p:nvSpPr>
          <p:cNvPr id="341" name="Google Shape;341;p57"/>
          <p:cNvSpPr txBox="1"/>
          <p:nvPr>
            <p:ph idx="1" type="body"/>
          </p:nvPr>
        </p:nvSpPr>
        <p:spPr>
          <a:xfrm>
            <a:off x="311700" y="1225225"/>
            <a:ext cx="8520600" cy="3354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zh-TW"/>
              <a:t>只用於 range、 ref、 eq_ref、ref_or_null </a:t>
            </a:r>
            <a:endParaRPr/>
          </a:p>
          <a:p>
            <a:pPr indent="0" lvl="0" marL="0" rtl="0" algn="l">
              <a:spcBef>
                <a:spcPts val="1200"/>
              </a:spcBef>
              <a:spcAft>
                <a:spcPts val="0"/>
              </a:spcAft>
              <a:buNone/>
            </a:pPr>
            <a:r>
              <a:rPr lang="zh-TW"/>
              <a:t>對於InnoDB表來說，ICP僅用於二級索引。</a:t>
            </a:r>
            <a:endParaRPr/>
          </a:p>
          <a:p>
            <a:pPr indent="0" lvl="0" marL="0" rtl="0" algn="l">
              <a:spcBef>
                <a:spcPts val="1200"/>
              </a:spcBef>
              <a:spcAft>
                <a:spcPts val="0"/>
              </a:spcAft>
              <a:buNone/>
            </a:pPr>
            <a:r>
              <a:rPr lang="zh-TW"/>
              <a:t> ICP的目標是減少全行讀取的次數，進而減少I/O操作。</a:t>
            </a:r>
            <a:endParaRPr/>
          </a:p>
          <a:p>
            <a:pPr indent="0" lvl="0" marL="0" rtl="0" algn="l">
              <a:spcBef>
                <a:spcPts val="1200"/>
              </a:spcBef>
              <a:spcAft>
                <a:spcPts val="0"/>
              </a:spcAft>
              <a:buClr>
                <a:schemeClr val="dk1"/>
              </a:buClr>
              <a:buSzPts val="1100"/>
              <a:buFont typeface="Arial"/>
              <a:buNone/>
            </a:pPr>
            <a:r>
              <a:rPr lang="zh-TW"/>
              <a:t>用覆蓋索引(covering index)時，不需要進到 叢集索引，所以也不會用到 ICP</a:t>
            </a:r>
            <a:endParaRPr/>
          </a:p>
          <a:p>
            <a:pPr indent="0" lvl="0" marL="0" rtl="0" algn="l">
              <a:spcBef>
                <a:spcPts val="1200"/>
              </a:spcBef>
              <a:spcAft>
                <a:spcPts val="0"/>
              </a:spcAft>
              <a:buNone/>
            </a:pPr>
            <a:r>
              <a:rPr lang="zh-TW"/>
              <a:t>對於 InnoDB 聚集索引，資料是跟著索引一起的，當完整的記錄已經讀入 InnoDB 緩衝區。在這種情況下再使用 ICP 不會減少 I/O。</a:t>
            </a:r>
            <a:endParaRPr/>
          </a:p>
          <a:p>
            <a:pPr indent="0" lvl="0" marL="0" rtl="0" algn="l">
              <a:spcBef>
                <a:spcPts val="1200"/>
              </a:spcBef>
              <a:spcAft>
                <a:spcPts val="0"/>
              </a:spcAft>
              <a:buNone/>
            </a:pPr>
            <a:r>
              <a:rPr lang="zh-TW"/>
              <a:t>引用子查詢的條件無法下推</a:t>
            </a:r>
            <a:endParaRPr/>
          </a:p>
          <a:p>
            <a:pPr indent="0" lvl="0" marL="0" rtl="0" algn="l">
              <a:spcBef>
                <a:spcPts val="1200"/>
              </a:spcBef>
              <a:spcAft>
                <a:spcPts val="1200"/>
              </a:spcAft>
              <a:buNone/>
            </a:pPr>
            <a:r>
              <a:rPr lang="zh-TW"/>
              <a:t>可提示關閉索引下推( </a:t>
            </a:r>
            <a:r>
              <a:rPr lang="zh-TW" sz="1200">
                <a:solidFill>
                  <a:srgbClr val="0077AA"/>
                </a:solidFill>
                <a:highlight>
                  <a:srgbClr val="F8F8F8"/>
                </a:highlight>
                <a:latin typeface="Consolas"/>
                <a:ea typeface="Consolas"/>
                <a:cs typeface="Consolas"/>
                <a:sym typeface="Consolas"/>
              </a:rPr>
              <a:t>SELECT </a:t>
            </a:r>
            <a:r>
              <a:rPr lang="zh-TW" sz="1200">
                <a:solidFill>
                  <a:srgbClr val="A67F59"/>
                </a:solidFill>
                <a:highlight>
                  <a:srgbClr val="F8F8F8"/>
                </a:highlight>
                <a:latin typeface="Consolas"/>
                <a:ea typeface="Consolas"/>
                <a:cs typeface="Consolas"/>
                <a:sym typeface="Consolas"/>
              </a:rPr>
              <a:t>/*+ NO_ICP(t1) */ *</a:t>
            </a:r>
            <a:r>
              <a:rPr lang="zh-TW" sz="1200">
                <a:solidFill>
                  <a:srgbClr val="0077AA"/>
                </a:solidFill>
                <a:highlight>
                  <a:srgbClr val="F8F8F8"/>
                </a:highlight>
                <a:latin typeface="Consolas"/>
                <a:ea typeface="Consolas"/>
                <a:cs typeface="Consolas"/>
                <a:sym typeface="Consolas"/>
              </a:rPr>
              <a:t> FROM </a:t>
            </a:r>
            <a:r>
              <a:rPr i="1" lang="zh-TW" sz="1200">
                <a:solidFill>
                  <a:schemeClr val="dk1"/>
                </a:solidFill>
                <a:highlight>
                  <a:srgbClr val="F8F8F8"/>
                </a:highlight>
                <a:latin typeface="Consolas"/>
                <a:ea typeface="Consolas"/>
                <a:cs typeface="Consolas"/>
                <a:sym typeface="Consolas"/>
              </a:rPr>
              <a:t>t1</a:t>
            </a:r>
            <a:r>
              <a:rPr lang="zh-TW" sz="1200">
                <a:solidFill>
                  <a:srgbClr val="0077AA"/>
                </a:solidFill>
                <a:highlight>
                  <a:srgbClr val="F8F8F8"/>
                </a:highlight>
                <a:latin typeface="Consolas"/>
                <a:ea typeface="Consolas"/>
                <a:cs typeface="Consolas"/>
                <a:sym typeface="Consolas"/>
              </a:rPr>
              <a:t> WHERE </a:t>
            </a:r>
            <a:r>
              <a:rPr i="1" lang="zh-TW" sz="1200">
                <a:solidFill>
                  <a:schemeClr val="dk1"/>
                </a:solidFill>
                <a:highlight>
                  <a:srgbClr val="F8F8F8"/>
                </a:highlight>
                <a:latin typeface="Consolas"/>
                <a:ea typeface="Consolas"/>
                <a:cs typeface="Consolas"/>
                <a:sym typeface="Consolas"/>
              </a:rPr>
              <a:t>f3</a:t>
            </a:r>
            <a:r>
              <a:rPr lang="zh-TW" sz="1200">
                <a:solidFill>
                  <a:srgbClr val="0077AA"/>
                </a:solidFill>
                <a:highlight>
                  <a:srgbClr val="F8F8F8"/>
                </a:highlight>
                <a:latin typeface="Consolas"/>
                <a:ea typeface="Consolas"/>
                <a:cs typeface="Consolas"/>
                <a:sym typeface="Consolas"/>
              </a:rPr>
              <a:t> = </a:t>
            </a:r>
            <a:r>
              <a:rPr lang="zh-TW" sz="1200">
                <a:solidFill>
                  <a:srgbClr val="990055"/>
                </a:solidFill>
                <a:highlight>
                  <a:srgbClr val="F8F8F8"/>
                </a:highlight>
                <a:latin typeface="Consolas"/>
                <a:ea typeface="Consolas"/>
                <a:cs typeface="Consolas"/>
                <a:sym typeface="Consolas"/>
              </a:rPr>
              <a:t>10000</a:t>
            </a:r>
            <a:r>
              <a:rPr lang="zh-TW"/>
              <a:t>)</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5" name="Shape 345"/>
        <p:cNvGrpSpPr/>
        <p:nvPr/>
      </p:nvGrpSpPr>
      <p:grpSpPr>
        <a:xfrm>
          <a:off x="0" y="0"/>
          <a:ext cx="0" cy="0"/>
          <a:chOff x="0" y="0"/>
          <a:chExt cx="0" cy="0"/>
        </a:xfrm>
      </p:grpSpPr>
      <p:pic>
        <p:nvPicPr>
          <p:cNvPr id="346" name="Google Shape;346;p58"/>
          <p:cNvPicPr preferRelativeResize="0"/>
          <p:nvPr/>
        </p:nvPicPr>
        <p:blipFill>
          <a:blip r:embed="rId3">
            <a:alphaModFix/>
          </a:blip>
          <a:stretch>
            <a:fillRect/>
          </a:stretch>
        </p:blipFill>
        <p:spPr>
          <a:xfrm>
            <a:off x="437123" y="0"/>
            <a:ext cx="8269755" cy="5143501"/>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pic>
        <p:nvPicPr>
          <p:cNvPr id="351" name="Google Shape;351;p59"/>
          <p:cNvPicPr preferRelativeResize="0"/>
          <p:nvPr/>
        </p:nvPicPr>
        <p:blipFill>
          <a:blip r:embed="rId3">
            <a:alphaModFix/>
          </a:blip>
          <a:stretch>
            <a:fillRect/>
          </a:stretch>
        </p:blipFill>
        <p:spPr>
          <a:xfrm>
            <a:off x="2195513" y="466725"/>
            <a:ext cx="4752975" cy="42100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6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Index Merge </a:t>
            </a:r>
            <a:endParaRPr/>
          </a:p>
        </p:txBody>
      </p:sp>
      <p:sp>
        <p:nvSpPr>
          <p:cNvPr id="357" name="Google Shape;357;p60"/>
          <p:cNvSpPr txBox="1"/>
          <p:nvPr>
            <p:ph idx="1" type="body"/>
          </p:nvPr>
        </p:nvSpPr>
        <p:spPr>
          <a:xfrm>
            <a:off x="311700" y="1225225"/>
            <a:ext cx="8520600" cy="3354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zh-TW"/>
              <a:t>使用兩個以上的索引，盡可能排除資料，最後再回表查詢。</a:t>
            </a:r>
            <a:endParaRPr/>
          </a:p>
          <a:p>
            <a:pPr indent="0" lvl="0" marL="0" rtl="0" algn="l">
              <a:spcBef>
                <a:spcPts val="1200"/>
              </a:spcBef>
              <a:spcAft>
                <a:spcPts val="0"/>
              </a:spcAft>
              <a:buNone/>
            </a:pPr>
            <a:r>
              <a:rPr lang="zh-TW"/>
              <a:t>資料很少的情況下，在快取中做排序速度仍然很快，但如果資料很大，會造成很大的io負擔。</a:t>
            </a:r>
            <a:endParaRPr/>
          </a:p>
          <a:p>
            <a:pPr indent="0" lvl="0" marL="0" rtl="0" algn="l">
              <a:spcBef>
                <a:spcPts val="1200"/>
              </a:spcBef>
              <a:spcAft>
                <a:spcPts val="0"/>
              </a:spcAft>
              <a:buNone/>
            </a:pPr>
            <a:r>
              <a:rPr lang="zh-TW"/>
              <a:t>總的而言，有選擇的情況下不太建議使用。</a:t>
            </a:r>
            <a:endParaRPr/>
          </a:p>
          <a:p>
            <a:pPr indent="0" lvl="0" marL="0" rtl="0" algn="l">
              <a:spcBef>
                <a:spcPts val="1200"/>
              </a:spcBef>
              <a:spcAft>
                <a:spcPts val="0"/>
              </a:spcAft>
              <a:buNone/>
            </a:pPr>
            <a:r>
              <a:rPr lang="zh-TW"/>
              <a:t>排序預設為 Primary Key</a:t>
            </a:r>
            <a:endParaRPr/>
          </a:p>
          <a:p>
            <a:pPr indent="0" lvl="0" marL="0" rtl="0" algn="l">
              <a:spcBef>
                <a:spcPts val="1200"/>
              </a:spcBef>
              <a:spcAft>
                <a:spcPts val="0"/>
              </a:spcAft>
              <a:buNone/>
            </a:pPr>
            <a:r>
              <a:t/>
            </a:r>
            <a:endParaRPr/>
          </a:p>
          <a:p>
            <a:pPr indent="0" lvl="0" marL="0" rtl="0" algn="l">
              <a:spcBef>
                <a:spcPts val="1200"/>
              </a:spcBef>
              <a:spcAft>
                <a:spcPts val="0"/>
              </a:spcAft>
              <a:buClr>
                <a:schemeClr val="dk1"/>
              </a:buClr>
              <a:buSzPts val="1100"/>
              <a:buFont typeface="Arial"/>
              <a:buNone/>
            </a:pPr>
            <a:r>
              <a:rPr lang="zh-TW"/>
              <a:t>Using intersect(…)</a:t>
            </a:r>
            <a:endParaRPr/>
          </a:p>
          <a:p>
            <a:pPr indent="0" lvl="0" marL="0" rtl="0" algn="l">
              <a:spcBef>
                <a:spcPts val="1200"/>
              </a:spcBef>
              <a:spcAft>
                <a:spcPts val="0"/>
              </a:spcAft>
              <a:buClr>
                <a:schemeClr val="dk1"/>
              </a:buClr>
              <a:buSzPts val="1100"/>
              <a:buFont typeface="Arial"/>
              <a:buNone/>
            </a:pPr>
            <a:r>
              <a:rPr lang="zh-TW"/>
              <a:t>Using union(…)</a:t>
            </a:r>
            <a:endParaRPr/>
          </a:p>
          <a:p>
            <a:pPr indent="0" lvl="0" marL="0" rtl="0" algn="l">
              <a:spcBef>
                <a:spcPts val="1200"/>
              </a:spcBef>
              <a:spcAft>
                <a:spcPts val="1200"/>
              </a:spcAft>
              <a:buNone/>
            </a:pPr>
            <a:r>
              <a:rPr lang="zh-TW"/>
              <a:t>Using sort_union(…)</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6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優化跟檢測工具</a:t>
            </a:r>
            <a:endParaRPr/>
          </a:p>
        </p:txBody>
      </p:sp>
      <p:sp>
        <p:nvSpPr>
          <p:cNvPr id="363" name="Google Shape;363;p61"/>
          <p:cNvSpPr txBox="1"/>
          <p:nvPr>
            <p:ph idx="1" type="body"/>
          </p:nvPr>
        </p:nvSpPr>
        <p:spPr>
          <a:xfrm>
            <a:off x="311700" y="1225225"/>
            <a:ext cx="8520600" cy="3354000"/>
          </a:xfrm>
          <a:prstGeom prst="rect">
            <a:avLst/>
          </a:prstGeom>
        </p:spPr>
        <p:txBody>
          <a:bodyPr anchorCtr="0" anchor="ctr" bIns="91425" lIns="91425" spcFirstLastPara="1" rIns="91425" wrap="square" tIns="91425">
            <a:normAutofit lnSpcReduction="10000"/>
          </a:bodyPr>
          <a:lstStyle/>
          <a:p>
            <a:pPr indent="0" lvl="0" marL="0" rtl="0" algn="l">
              <a:spcBef>
                <a:spcPts val="0"/>
              </a:spcBef>
              <a:spcAft>
                <a:spcPts val="0"/>
              </a:spcAft>
              <a:buNone/>
            </a:pPr>
            <a:r>
              <a:t/>
            </a:r>
            <a:endParaRPr/>
          </a:p>
          <a:p>
            <a:pPr indent="-317500" lvl="0" marL="457200" rtl="0" algn="l">
              <a:spcBef>
                <a:spcPts val="1200"/>
              </a:spcBef>
              <a:spcAft>
                <a:spcPts val="0"/>
              </a:spcAft>
              <a:buSzPts val="1400"/>
              <a:buChar char="-"/>
            </a:pPr>
            <a:r>
              <a:rPr lang="zh-TW"/>
              <a:t>explain [format=tree|json]</a:t>
            </a:r>
            <a:endParaRPr/>
          </a:p>
          <a:p>
            <a:pPr indent="-317500" lvl="0" marL="457200" rtl="0" algn="l">
              <a:spcBef>
                <a:spcPts val="0"/>
              </a:spcBef>
              <a:spcAft>
                <a:spcPts val="0"/>
              </a:spcAft>
              <a:buSzPts val="1400"/>
              <a:buChar char="-"/>
            </a:pPr>
            <a:r>
              <a:rPr lang="zh-TW"/>
              <a:t>slow query</a:t>
            </a:r>
            <a:endParaRPr/>
          </a:p>
          <a:p>
            <a:pPr indent="-317500" lvl="0" marL="457200" rtl="0" algn="l">
              <a:spcBef>
                <a:spcPts val="0"/>
              </a:spcBef>
              <a:spcAft>
                <a:spcPts val="0"/>
              </a:spcAft>
              <a:buSzPts val="1400"/>
              <a:buChar char="-"/>
            </a:pPr>
            <a:r>
              <a:rPr lang="zh-TW"/>
              <a:t>show status</a:t>
            </a:r>
            <a:endParaRPr/>
          </a:p>
          <a:p>
            <a:pPr indent="-317500" lvl="1" marL="914400" rtl="0" algn="l">
              <a:spcBef>
                <a:spcPts val="0"/>
              </a:spcBef>
              <a:spcAft>
                <a:spcPts val="0"/>
              </a:spcAft>
              <a:buSzPts val="1400"/>
              <a:buChar char="-"/>
            </a:pPr>
            <a:r>
              <a:rPr lang="zh-TW"/>
              <a:t>show status like '%handler%'</a:t>
            </a:r>
            <a:endParaRPr/>
          </a:p>
          <a:p>
            <a:pPr indent="-317500" lvl="0" marL="457200" rtl="0" algn="l">
              <a:spcBef>
                <a:spcPts val="0"/>
              </a:spcBef>
              <a:spcAft>
                <a:spcPts val="0"/>
              </a:spcAft>
              <a:buSzPts val="1400"/>
              <a:buChar char="-"/>
            </a:pPr>
            <a:r>
              <a:rPr lang="zh-TW"/>
              <a:t>show variables</a:t>
            </a:r>
            <a:endParaRPr/>
          </a:p>
          <a:p>
            <a:pPr indent="-317500" lvl="1" marL="914400" rtl="0" algn="l">
              <a:spcBef>
                <a:spcPts val="0"/>
              </a:spcBef>
              <a:spcAft>
                <a:spcPts val="0"/>
              </a:spcAft>
              <a:buSzPts val="1400"/>
              <a:buChar char="-"/>
            </a:pPr>
            <a:r>
              <a:rPr lang="zh-TW"/>
              <a:t>set session key_buffer_size = xxxxx;</a:t>
            </a:r>
            <a:endParaRPr/>
          </a:p>
          <a:p>
            <a:pPr indent="-317500" lvl="0" marL="457200" rtl="0" algn="l">
              <a:spcBef>
                <a:spcPts val="0"/>
              </a:spcBef>
              <a:spcAft>
                <a:spcPts val="0"/>
              </a:spcAft>
              <a:buSzPts val="1400"/>
              <a:buChar char="-"/>
            </a:pPr>
            <a:r>
              <a:rPr lang="zh-TW"/>
              <a:t>optimizer trace</a:t>
            </a:r>
            <a:endParaRPr/>
          </a:p>
          <a:p>
            <a:pPr indent="-317500" lvl="0" marL="457200" rtl="0" algn="l">
              <a:spcBef>
                <a:spcPts val="0"/>
              </a:spcBef>
              <a:spcAft>
                <a:spcPts val="0"/>
              </a:spcAft>
              <a:buSzPts val="1400"/>
              <a:buChar char="-"/>
            </a:pPr>
            <a:r>
              <a:rPr lang="zh-TW"/>
              <a:t>preformance table</a:t>
            </a:r>
            <a:endParaRPr/>
          </a:p>
          <a:p>
            <a:pPr indent="-317500" lvl="0" marL="457200" rtl="0" algn="l">
              <a:spcBef>
                <a:spcPts val="0"/>
              </a:spcBef>
              <a:spcAft>
                <a:spcPts val="0"/>
              </a:spcAft>
              <a:buSzPts val="1400"/>
              <a:buChar char="-"/>
            </a:pPr>
            <a:r>
              <a:rPr lang="zh-TW"/>
              <a:t>show warnings</a:t>
            </a:r>
            <a:endParaRPr/>
          </a:p>
          <a:p>
            <a:pPr indent="-317500" lvl="0" marL="457200" rtl="0" algn="l">
              <a:spcBef>
                <a:spcPts val="0"/>
              </a:spcBef>
              <a:spcAft>
                <a:spcPts val="0"/>
              </a:spcAft>
              <a:buSzPts val="1400"/>
              <a:buChar char="-"/>
            </a:pPr>
            <a:r>
              <a:rPr lang="zh-TW"/>
              <a:t>show profiles (deprecated)</a:t>
            </a:r>
            <a:endParaRPr/>
          </a:p>
          <a:p>
            <a:pPr indent="0" lvl="0" marL="0" rtl="0" algn="l">
              <a:spcBef>
                <a:spcPts val="1200"/>
              </a:spcBef>
              <a:spcAft>
                <a:spcPts val="1200"/>
              </a:spcAft>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6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從官方unit test找案例</a:t>
            </a:r>
            <a:endParaRPr/>
          </a:p>
        </p:txBody>
      </p:sp>
      <p:sp>
        <p:nvSpPr>
          <p:cNvPr id="369" name="Google Shape;369;p62"/>
          <p:cNvSpPr txBox="1"/>
          <p:nvPr>
            <p:ph idx="1" type="body"/>
          </p:nvPr>
        </p:nvSpPr>
        <p:spPr>
          <a:xfrm>
            <a:off x="311700" y="1225225"/>
            <a:ext cx="8520600" cy="3354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zh-TW"/>
              <a:t>git clone https://github.com/mysql/mysql-server.git</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zh-TW"/>
              <a:t>rg -uuu </a:t>
            </a:r>
            <a:r>
              <a:rPr lang="zh-TW" sz="1700"/>
              <a:t>'</a:t>
            </a:r>
            <a:r>
              <a:rPr lang="zh-TW"/>
              <a:t>Using intersect</a:t>
            </a:r>
            <a:r>
              <a:rPr lang="zh-TW" sz="1700"/>
              <a:t>'</a:t>
            </a:r>
            <a:r>
              <a:rPr lang="zh-TW"/>
              <a:t> ./mysql-server/mysql-test/</a:t>
            </a:r>
            <a:endParaRPr/>
          </a:p>
          <a:p>
            <a:pPr indent="0" lvl="0" marL="0" rtl="0" algn="l">
              <a:spcBef>
                <a:spcPts val="1200"/>
              </a:spcBef>
              <a:spcAft>
                <a:spcPts val="0"/>
              </a:spcAft>
              <a:buNone/>
            </a:pPr>
            <a:r>
              <a:t/>
            </a:r>
            <a:endParaRPr/>
          </a:p>
          <a:p>
            <a:pPr indent="0" lvl="0" marL="0" rtl="0" algn="l">
              <a:spcBef>
                <a:spcPts val="1200"/>
              </a:spcBef>
              <a:spcAft>
                <a:spcPts val="1200"/>
              </a:spcAft>
              <a:buClr>
                <a:schemeClr val="dk1"/>
              </a:buClr>
              <a:buSzPts val="1100"/>
              <a:buFont typeface="Arial"/>
              <a:buNone/>
            </a:pPr>
            <a:r>
              <a:rPr lang="zh-TW"/>
              <a:t>rg : ripgrep</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63"/>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參考資料</a:t>
            </a:r>
            <a:endParaRPr/>
          </a:p>
        </p:txBody>
      </p:sp>
      <p:sp>
        <p:nvSpPr>
          <p:cNvPr id="375" name="Google Shape;375;p63"/>
          <p:cNvSpPr txBox="1"/>
          <p:nvPr>
            <p:ph idx="1" type="body"/>
          </p:nvPr>
        </p:nvSpPr>
        <p:spPr>
          <a:xfrm>
            <a:off x="311700" y="1225225"/>
            <a:ext cx="8520600" cy="3354000"/>
          </a:xfrm>
          <a:prstGeom prst="rect">
            <a:avLst/>
          </a:prstGeom>
        </p:spPr>
        <p:txBody>
          <a:bodyPr anchorCtr="0" anchor="ctr" bIns="91425" lIns="91425" spcFirstLastPara="1" rIns="91425" wrap="square" tIns="91425">
            <a:normAutofit fontScale="77500" lnSpcReduction="10000"/>
          </a:bodyPr>
          <a:lstStyle/>
          <a:p>
            <a:pPr indent="0" lvl="0" marL="0" rtl="0" algn="l">
              <a:spcBef>
                <a:spcPts val="0"/>
              </a:spcBef>
              <a:spcAft>
                <a:spcPts val="0"/>
              </a:spcAft>
              <a:buNone/>
            </a:pPr>
            <a:r>
              <a:rPr lang="zh-TW" u="sng">
                <a:solidFill>
                  <a:schemeClr val="hlink"/>
                </a:solidFill>
                <a:hlinkClick r:id="rId3"/>
              </a:rPr>
              <a:t>https://dev.mysql.com/doc/</a:t>
            </a:r>
            <a:endParaRPr/>
          </a:p>
          <a:p>
            <a:pPr indent="0" lvl="0" marL="0" rtl="0" algn="l">
              <a:spcBef>
                <a:spcPts val="1200"/>
              </a:spcBef>
              <a:spcAft>
                <a:spcPts val="0"/>
              </a:spcAft>
              <a:buNone/>
            </a:pPr>
            <a:r>
              <a:rPr lang="zh-TW" u="sng">
                <a:solidFill>
                  <a:schemeClr val="hlink"/>
                </a:solidFill>
                <a:hlinkClick r:id="rId4"/>
              </a:rPr>
              <a:t>https://zhuanlan.zhihu.com/p/559481619</a:t>
            </a:r>
            <a:endParaRPr/>
          </a:p>
          <a:p>
            <a:pPr indent="0" lvl="0" marL="0" rtl="0" algn="l">
              <a:spcBef>
                <a:spcPts val="1200"/>
              </a:spcBef>
              <a:spcAft>
                <a:spcPts val="0"/>
              </a:spcAft>
              <a:buNone/>
            </a:pPr>
            <a:r>
              <a:rPr lang="zh-TW" u="sng">
                <a:solidFill>
                  <a:schemeClr val="hlink"/>
                </a:solidFill>
                <a:hlinkClick r:id="rId5"/>
              </a:rPr>
              <a:t>https://www.slideshare.net/andyao/mysql-index</a:t>
            </a:r>
            <a:endParaRPr/>
          </a:p>
          <a:p>
            <a:pPr indent="0" lvl="0" marL="0" rtl="0" algn="l">
              <a:spcBef>
                <a:spcPts val="1200"/>
              </a:spcBef>
              <a:spcAft>
                <a:spcPts val="0"/>
              </a:spcAft>
              <a:buNone/>
            </a:pPr>
            <a:r>
              <a:rPr lang="zh-TW" u="sng">
                <a:solidFill>
                  <a:schemeClr val="hlink"/>
                </a:solidFill>
                <a:hlinkClick r:id="rId6"/>
              </a:rPr>
              <a:t>https://blog.bytebytego.com/p/database-indexing-strategies</a:t>
            </a:r>
            <a:endParaRPr/>
          </a:p>
          <a:p>
            <a:pPr indent="0" lvl="0" marL="0" rtl="0" algn="l">
              <a:spcBef>
                <a:spcPts val="1200"/>
              </a:spcBef>
              <a:spcAft>
                <a:spcPts val="0"/>
              </a:spcAft>
              <a:buNone/>
            </a:pPr>
            <a:r>
              <a:rPr lang="zh-TW" u="sng">
                <a:solidFill>
                  <a:schemeClr val="hlink"/>
                </a:solidFill>
                <a:hlinkClick r:id="rId7"/>
              </a:rPr>
              <a:t>https://xiaolincoding.com/</a:t>
            </a:r>
            <a:endParaRPr/>
          </a:p>
          <a:p>
            <a:pPr indent="0" lvl="0" marL="0" rtl="0" algn="l">
              <a:spcBef>
                <a:spcPts val="1200"/>
              </a:spcBef>
              <a:spcAft>
                <a:spcPts val="0"/>
              </a:spcAft>
              <a:buNone/>
            </a:pPr>
            <a:r>
              <a:rPr lang="zh-TW" u="sng">
                <a:solidFill>
                  <a:schemeClr val="hlink"/>
                </a:solidFill>
                <a:hlinkClick r:id="rId8"/>
              </a:rPr>
              <a:t>https://blog.jcole.us/innodb/</a:t>
            </a:r>
            <a:endParaRPr/>
          </a:p>
          <a:p>
            <a:pPr indent="0" lvl="0" marL="0" rtl="0" algn="l">
              <a:spcBef>
                <a:spcPts val="1200"/>
              </a:spcBef>
              <a:spcAft>
                <a:spcPts val="0"/>
              </a:spcAft>
              <a:buNone/>
            </a:pPr>
            <a:r>
              <a:rPr lang="zh-TW" u="sng">
                <a:solidFill>
                  <a:schemeClr val="hlink"/>
                </a:solidFill>
                <a:hlinkClick r:id="rId9"/>
              </a:rPr>
              <a:t>http://www.unofficialmysqlguide.com/</a:t>
            </a:r>
            <a:endParaRPr/>
          </a:p>
          <a:p>
            <a:pPr indent="0" lvl="0" marL="0" rtl="0" algn="l">
              <a:spcBef>
                <a:spcPts val="1200"/>
              </a:spcBef>
              <a:spcAft>
                <a:spcPts val="0"/>
              </a:spcAft>
              <a:buNone/>
            </a:pPr>
            <a:r>
              <a:rPr lang="zh-TW" u="sng">
                <a:solidFill>
                  <a:schemeClr val="hlink"/>
                </a:solidFill>
                <a:hlinkClick r:id="rId10"/>
              </a:rPr>
              <a:t>https://mp.weixin.qq.com/s?__biz=MjM5ODYxMDA5OQ==&amp;mid=2651962875&amp;idx=1&amp;sn=c6b3e7dc8a41609cfe070026bd27b71d</a:t>
            </a:r>
            <a:endParaRPr/>
          </a:p>
          <a:p>
            <a:pPr indent="0" lvl="0" marL="0" rtl="0" algn="l">
              <a:spcBef>
                <a:spcPts val="1200"/>
              </a:spcBef>
              <a:spcAft>
                <a:spcPts val="0"/>
              </a:spcAft>
              <a:buNone/>
            </a:pPr>
            <a:r>
              <a:rPr lang="zh-TW" u="sng">
                <a:solidFill>
                  <a:schemeClr val="hlink"/>
                </a:solidFill>
                <a:hlinkClick r:id="rId11"/>
              </a:rPr>
              <a:t>https://relph1119.github.io/mysql-learning-notes/#/</a:t>
            </a:r>
            <a:endParaRPr/>
          </a:p>
          <a:p>
            <a:pPr indent="0" lvl="0" marL="0" rtl="0" algn="l">
              <a:spcBef>
                <a:spcPts val="1200"/>
              </a:spcBef>
              <a:spcAft>
                <a:spcPts val="1200"/>
              </a:spcAft>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64"/>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zh-TW"/>
              <a:t>Thank you for time.</a:t>
            </a:r>
            <a:endParaRPr/>
          </a:p>
        </p:txBody>
      </p:sp>
      <p:sp>
        <p:nvSpPr>
          <p:cNvPr id="381" name="Google Shape;381;p64"/>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zh-TW"/>
              <a:t>End</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65"/>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zh-TW">
                <a:latin typeface="PMingLiu"/>
                <a:ea typeface="PMingLiu"/>
                <a:cs typeface="PMingLiu"/>
                <a:sym typeface="PMingLiu"/>
              </a:rPr>
              <a:t>快取機制</a:t>
            </a:r>
            <a:endParaRPr>
              <a:latin typeface="PMingLiu"/>
              <a:ea typeface="PMingLiu"/>
              <a:cs typeface="PMingLiu"/>
              <a:sym typeface="PMingLiu"/>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6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LRU (Least Recently Used)</a:t>
            </a:r>
            <a:endParaRPr/>
          </a:p>
        </p:txBody>
      </p:sp>
      <p:sp>
        <p:nvSpPr>
          <p:cNvPr id="392" name="Google Shape;392;p66"/>
          <p:cNvSpPr txBox="1"/>
          <p:nvPr>
            <p:ph idx="1" type="body"/>
          </p:nvPr>
        </p:nvSpPr>
        <p:spPr>
          <a:xfrm>
            <a:off x="311700" y="1225225"/>
            <a:ext cx="8520600" cy="3354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zh-TW"/>
              <a:t>大多數的情境下，最近被使用過的資料，那麼將來被訪問的概率也多，最近沒有被訪問，那麼將來被訪問的概率也比較低。</a:t>
            </a:r>
            <a:endParaRPr/>
          </a:p>
          <a:p>
            <a:pPr indent="0" lvl="0" marL="0" rtl="0" algn="l">
              <a:spcBef>
                <a:spcPts val="1200"/>
              </a:spcBef>
              <a:spcAft>
                <a:spcPts val="1200"/>
              </a:spcAft>
              <a:buNone/>
            </a:pPr>
            <a:r>
              <a:rPr lang="zh-TW"/>
              <a:t>因此，在記憶體不夠用時優先保留最近常使用的 Cache 資料，並剔除最舊的資料來提供使用空間</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67"/>
          <p:cNvSpPr txBox="1"/>
          <p:nvPr>
            <p:ph idx="1" type="body"/>
          </p:nvPr>
        </p:nvSpPr>
        <p:spPr>
          <a:xfrm>
            <a:off x="311700" y="1225225"/>
            <a:ext cx="8520600" cy="3354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zh-TW"/>
              <a:t>這樣的設計存在一個問題: </a:t>
            </a:r>
            <a:endParaRPr/>
          </a:p>
          <a:p>
            <a:pPr indent="0" lvl="0" marL="0" rtl="0" algn="l">
              <a:spcBef>
                <a:spcPts val="1200"/>
              </a:spcBef>
              <a:spcAft>
                <a:spcPts val="1200"/>
              </a:spcAft>
              <a:buClr>
                <a:schemeClr val="dk1"/>
              </a:buClr>
              <a:buSzPts val="1100"/>
              <a:buFont typeface="Arial"/>
              <a:buNone/>
            </a:pPr>
            <a:r>
              <a:rPr lang="zh-TW"/>
              <a:t>假設時常有大量資料湧進，會將原先所有快取都更換的一遍，導致真正常用的快取無法久留。</a:t>
            </a:r>
            <a:endParaRPr/>
          </a:p>
        </p:txBody>
      </p:sp>
      <p:sp>
        <p:nvSpPr>
          <p:cNvPr id="398" name="Google Shape;398;p6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LRU - 快取汙染</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改進後的 LRU</a:t>
            </a:r>
            <a:endParaRPr/>
          </a:p>
        </p:txBody>
      </p:sp>
      <p:sp>
        <p:nvSpPr>
          <p:cNvPr id="404" name="Google Shape;404;p68"/>
          <p:cNvSpPr txBox="1"/>
          <p:nvPr>
            <p:ph idx="1" type="body"/>
          </p:nvPr>
        </p:nvSpPr>
        <p:spPr>
          <a:xfrm>
            <a:off x="311700" y="1225225"/>
            <a:ext cx="5098500" cy="3354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zh-TW" sz="1300"/>
              <a:t>區分 new Sublist 跟 old sublist ，比例預設是 37% 約 8/3 (innodb_old_blocks_pct)</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rPr lang="zh-TW" sz="1300"/>
              <a:t>只有在 old sublist 多次被存取 3 次 (key_cache_age_threshold ) </a:t>
            </a:r>
            <a:br>
              <a:rPr lang="zh-TW" sz="1300"/>
            </a:br>
            <a:r>
              <a:rPr lang="zh-TW" sz="1300"/>
              <a:t>且存在足夠時間 1 秒 (innodb_old_blocks_time) 後，</a:t>
            </a:r>
            <a:br>
              <a:rPr lang="zh-TW" sz="1300"/>
            </a:br>
            <a:r>
              <a:rPr lang="zh-TW" sz="1300"/>
              <a:t>才能進入 new sublist</a:t>
            </a:r>
            <a:endParaRPr sz="1300"/>
          </a:p>
          <a:p>
            <a:pPr indent="0" lvl="0" marL="0" rtl="0" algn="l">
              <a:spcBef>
                <a:spcPts val="1200"/>
              </a:spcBef>
              <a:spcAft>
                <a:spcPts val="0"/>
              </a:spcAft>
              <a:buNone/>
            </a:pPr>
            <a:r>
              <a:t/>
            </a:r>
            <a:endParaRPr sz="1300"/>
          </a:p>
          <a:p>
            <a:pPr indent="0" lvl="0" marL="0" rtl="0" algn="l">
              <a:spcBef>
                <a:spcPts val="1200"/>
              </a:spcBef>
              <a:spcAft>
                <a:spcPts val="1200"/>
              </a:spcAft>
              <a:buNone/>
            </a:pPr>
            <a:r>
              <a:rPr lang="zh-TW" sz="1300"/>
              <a:t>這樣可以避免短時間大量重複更新導致快取逐出</a:t>
            </a:r>
            <a:endParaRPr sz="1300"/>
          </a:p>
        </p:txBody>
      </p:sp>
      <p:pic>
        <p:nvPicPr>
          <p:cNvPr id="405" name="Google Shape;405;p68"/>
          <p:cNvPicPr preferRelativeResize="0"/>
          <p:nvPr/>
        </p:nvPicPr>
        <p:blipFill>
          <a:blip r:embed="rId3">
            <a:alphaModFix/>
          </a:blip>
          <a:stretch>
            <a:fillRect/>
          </a:stretch>
        </p:blipFill>
        <p:spPr>
          <a:xfrm>
            <a:off x="5774788" y="0"/>
            <a:ext cx="3207224" cy="51435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6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innodb_buffer_pool_size</a:t>
            </a:r>
            <a:endParaRPr/>
          </a:p>
        </p:txBody>
      </p:sp>
      <p:sp>
        <p:nvSpPr>
          <p:cNvPr id="411" name="Google Shape;411;p69"/>
          <p:cNvSpPr txBox="1"/>
          <p:nvPr>
            <p:ph idx="1" type="body"/>
          </p:nvPr>
        </p:nvSpPr>
        <p:spPr>
          <a:xfrm>
            <a:off x="311700" y="1225225"/>
            <a:ext cx="8520600" cy="3354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zh-TW"/>
              <a:t>建議  innodb_buffer_pool_size 值為系統記憶體的 50% 到 75%</a:t>
            </a:r>
            <a:endParaRPr/>
          </a:p>
          <a:p>
            <a:pPr indent="0" lvl="0" marL="0" rtl="0" algn="l">
              <a:spcBef>
                <a:spcPts val="1200"/>
              </a:spcBef>
              <a:spcAft>
                <a:spcPts val="0"/>
              </a:spcAft>
              <a:buNone/>
            </a:pPr>
            <a:r>
              <a:rPr lang="zh-TW"/>
              <a:t>太大會壓縮到其他快取的使用，並造成記憶體浪費。</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zh-TW"/>
              <a:t>(innodb_buffer_pool_reads / innodb_buffer_pool_read_requests) * 100</a:t>
            </a:r>
            <a:endParaRPr/>
          </a:p>
          <a:p>
            <a:pPr indent="0" lvl="0" marL="0" rtl="0" algn="l">
              <a:spcBef>
                <a:spcPts val="1200"/>
              </a:spcBef>
              <a:spcAft>
                <a:spcPts val="1200"/>
              </a:spcAft>
              <a:buNone/>
            </a:pPr>
            <a:r>
              <a:rPr lang="zh-TW"/>
              <a:t>= innodb buffer hits rate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5" name="Shape 415"/>
        <p:cNvGrpSpPr/>
        <p:nvPr/>
      </p:nvGrpSpPr>
      <p:grpSpPr>
        <a:xfrm>
          <a:off x="0" y="0"/>
          <a:ext cx="0" cy="0"/>
          <a:chOff x="0" y="0"/>
          <a:chExt cx="0" cy="0"/>
        </a:xfrm>
      </p:grpSpPr>
      <p:sp>
        <p:nvSpPr>
          <p:cNvPr id="416" name="Google Shape;416;p7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總記憶體使用量計算公式</a:t>
            </a:r>
            <a:endParaRPr/>
          </a:p>
        </p:txBody>
      </p:sp>
      <p:sp>
        <p:nvSpPr>
          <p:cNvPr id="417" name="Google Shape;417;p70"/>
          <p:cNvSpPr txBox="1"/>
          <p:nvPr>
            <p:ph idx="1" type="body"/>
          </p:nvPr>
        </p:nvSpPr>
        <p:spPr>
          <a:xfrm>
            <a:off x="311700" y="1225225"/>
            <a:ext cx="4424100" cy="3354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zh-TW"/>
              <a:t>innodb_buffer_pool_size</a:t>
            </a:r>
            <a:endParaRPr/>
          </a:p>
          <a:p>
            <a:pPr indent="0" lvl="0" marL="0" rtl="0" algn="l">
              <a:spcBef>
                <a:spcPts val="1200"/>
              </a:spcBef>
              <a:spcAft>
                <a:spcPts val="0"/>
              </a:spcAft>
              <a:buNone/>
            </a:pPr>
            <a:r>
              <a:rPr lang="zh-TW"/>
              <a:t>+ key_buffer_size</a:t>
            </a:r>
            <a:endParaRPr/>
          </a:p>
          <a:p>
            <a:pPr indent="0" lvl="0" marL="0" rtl="0" algn="l">
              <a:spcBef>
                <a:spcPts val="1200"/>
              </a:spcBef>
              <a:spcAft>
                <a:spcPts val="0"/>
              </a:spcAft>
              <a:buNone/>
            </a:pPr>
            <a:r>
              <a:rPr lang="zh-TW"/>
              <a:t>+ max_connections</a:t>
            </a:r>
            <a:endParaRPr/>
          </a:p>
          <a:p>
            <a:pPr indent="0" lvl="0" marL="0" rtl="0" algn="l">
              <a:spcBef>
                <a:spcPts val="1200"/>
              </a:spcBef>
              <a:spcAft>
                <a:spcPts val="0"/>
              </a:spcAft>
              <a:buNone/>
            </a:pPr>
            <a:r>
              <a:rPr lang="zh-TW"/>
              <a:t>* (sort_buffer_size+read_buffer_size+binlog_cache_size)</a:t>
            </a:r>
            <a:endParaRPr/>
          </a:p>
          <a:p>
            <a:pPr indent="0" lvl="0" marL="0" rtl="0" algn="l">
              <a:spcBef>
                <a:spcPts val="1200"/>
              </a:spcBef>
              <a:spcAft>
                <a:spcPts val="0"/>
              </a:spcAft>
              <a:buNone/>
            </a:pPr>
            <a:r>
              <a:rPr lang="zh-TW"/>
              <a:t>+ max_connections*2MB</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zh-TW" u="sng">
                <a:solidFill>
                  <a:schemeClr val="accent5"/>
                </a:solidFill>
                <a:hlinkClick r:id="rId3">
                  <a:extLst>
                    <a:ext uri="{A12FA001-AC4F-418D-AE19-62706E023703}">
                      <ahyp:hlinkClr val="tx"/>
                    </a:ext>
                  </a:extLst>
                </a:hlinkClick>
              </a:rPr>
              <a:t>www.mysqlcalculator.com</a:t>
            </a:r>
            <a:endParaRPr/>
          </a:p>
        </p:txBody>
      </p:sp>
      <p:sp>
        <p:nvSpPr>
          <p:cNvPr id="418" name="Google Shape;418;p70"/>
          <p:cNvSpPr txBox="1"/>
          <p:nvPr/>
        </p:nvSpPr>
        <p:spPr>
          <a:xfrm>
            <a:off x="4735775" y="1225225"/>
            <a:ext cx="4265400" cy="348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zh-TW">
                <a:solidFill>
                  <a:srgbClr val="555555"/>
                </a:solidFill>
                <a:latin typeface="Cambria"/>
                <a:ea typeface="Cambria"/>
                <a:cs typeface="Cambria"/>
                <a:sym typeface="Cambria"/>
              </a:rPr>
              <a:t>SELECT ( @@key_buffer_size</a:t>
            </a:r>
            <a:endParaRPr>
              <a:solidFill>
                <a:srgbClr val="555555"/>
              </a:solidFill>
              <a:latin typeface="Cambria"/>
              <a:ea typeface="Cambria"/>
              <a:cs typeface="Cambria"/>
              <a:sym typeface="Cambria"/>
            </a:endParaRPr>
          </a:p>
          <a:p>
            <a:pPr indent="0" lvl="0" marL="0" rtl="0" algn="l">
              <a:spcBef>
                <a:spcPts val="0"/>
              </a:spcBef>
              <a:spcAft>
                <a:spcPts val="0"/>
              </a:spcAft>
              <a:buClr>
                <a:schemeClr val="dk1"/>
              </a:buClr>
              <a:buSzPts val="1100"/>
              <a:buFont typeface="Arial"/>
              <a:buNone/>
            </a:pPr>
            <a:r>
              <a:rPr lang="zh-TW">
                <a:solidFill>
                  <a:srgbClr val="555555"/>
                </a:solidFill>
                <a:latin typeface="Cambria"/>
                <a:ea typeface="Cambria"/>
                <a:cs typeface="Cambria"/>
                <a:sym typeface="Cambria"/>
              </a:rPr>
              <a:t>+ @@query_cache_size</a:t>
            </a:r>
            <a:endParaRPr>
              <a:solidFill>
                <a:srgbClr val="555555"/>
              </a:solidFill>
              <a:latin typeface="Cambria"/>
              <a:ea typeface="Cambria"/>
              <a:cs typeface="Cambria"/>
              <a:sym typeface="Cambria"/>
            </a:endParaRPr>
          </a:p>
          <a:p>
            <a:pPr indent="0" lvl="0" marL="0" rtl="0" algn="l">
              <a:spcBef>
                <a:spcPts val="0"/>
              </a:spcBef>
              <a:spcAft>
                <a:spcPts val="0"/>
              </a:spcAft>
              <a:buClr>
                <a:schemeClr val="dk1"/>
              </a:buClr>
              <a:buSzPts val="1100"/>
              <a:buFont typeface="Arial"/>
              <a:buNone/>
            </a:pPr>
            <a:r>
              <a:rPr lang="zh-TW">
                <a:solidFill>
                  <a:srgbClr val="555555"/>
                </a:solidFill>
                <a:latin typeface="Cambria"/>
                <a:ea typeface="Cambria"/>
                <a:cs typeface="Cambria"/>
                <a:sym typeface="Cambria"/>
              </a:rPr>
              <a:t>+ @@innodb_buffer_pool_size</a:t>
            </a:r>
            <a:endParaRPr>
              <a:solidFill>
                <a:srgbClr val="555555"/>
              </a:solidFill>
              <a:latin typeface="Cambria"/>
              <a:ea typeface="Cambria"/>
              <a:cs typeface="Cambria"/>
              <a:sym typeface="Cambria"/>
            </a:endParaRPr>
          </a:p>
          <a:p>
            <a:pPr indent="0" lvl="0" marL="0" rtl="0" algn="l">
              <a:spcBef>
                <a:spcPts val="0"/>
              </a:spcBef>
              <a:spcAft>
                <a:spcPts val="0"/>
              </a:spcAft>
              <a:buClr>
                <a:schemeClr val="dk1"/>
              </a:buClr>
              <a:buSzPts val="1100"/>
              <a:buFont typeface="Arial"/>
              <a:buNone/>
            </a:pPr>
            <a:r>
              <a:rPr lang="zh-TW">
                <a:solidFill>
                  <a:srgbClr val="555555"/>
                </a:solidFill>
                <a:latin typeface="Cambria"/>
                <a:ea typeface="Cambria"/>
                <a:cs typeface="Cambria"/>
                <a:sym typeface="Cambria"/>
              </a:rPr>
              <a:t>+ @@innodb_additional_mem_pool_size</a:t>
            </a:r>
            <a:endParaRPr>
              <a:solidFill>
                <a:srgbClr val="555555"/>
              </a:solidFill>
              <a:latin typeface="Cambria"/>
              <a:ea typeface="Cambria"/>
              <a:cs typeface="Cambria"/>
              <a:sym typeface="Cambria"/>
            </a:endParaRPr>
          </a:p>
          <a:p>
            <a:pPr indent="0" lvl="0" marL="0" rtl="0" algn="l">
              <a:spcBef>
                <a:spcPts val="0"/>
              </a:spcBef>
              <a:spcAft>
                <a:spcPts val="0"/>
              </a:spcAft>
              <a:buClr>
                <a:schemeClr val="dk1"/>
              </a:buClr>
              <a:buSzPts val="1100"/>
              <a:buFont typeface="Arial"/>
              <a:buNone/>
            </a:pPr>
            <a:r>
              <a:rPr lang="zh-TW">
                <a:solidFill>
                  <a:srgbClr val="555555"/>
                </a:solidFill>
                <a:latin typeface="Cambria"/>
                <a:ea typeface="Cambria"/>
                <a:cs typeface="Cambria"/>
                <a:sym typeface="Cambria"/>
              </a:rPr>
              <a:t>+ @@innodb_log_buffer_size</a:t>
            </a:r>
            <a:endParaRPr>
              <a:solidFill>
                <a:srgbClr val="555555"/>
              </a:solidFill>
              <a:latin typeface="Cambria"/>
              <a:ea typeface="Cambria"/>
              <a:cs typeface="Cambria"/>
              <a:sym typeface="Cambria"/>
            </a:endParaRPr>
          </a:p>
          <a:p>
            <a:pPr indent="0" lvl="0" marL="0" rtl="0" algn="l">
              <a:spcBef>
                <a:spcPts val="0"/>
              </a:spcBef>
              <a:spcAft>
                <a:spcPts val="0"/>
              </a:spcAft>
              <a:buClr>
                <a:schemeClr val="dk1"/>
              </a:buClr>
              <a:buSzPts val="1100"/>
              <a:buFont typeface="Arial"/>
              <a:buNone/>
            </a:pPr>
            <a:r>
              <a:rPr lang="zh-TW">
                <a:solidFill>
                  <a:srgbClr val="555555"/>
                </a:solidFill>
                <a:latin typeface="Cambria"/>
                <a:ea typeface="Cambria"/>
                <a:cs typeface="Cambria"/>
                <a:sym typeface="Cambria"/>
              </a:rPr>
              <a:t>+ @@max_connections * ( @@read_buffer_size</a:t>
            </a:r>
            <a:endParaRPr>
              <a:solidFill>
                <a:srgbClr val="555555"/>
              </a:solidFill>
              <a:latin typeface="Cambria"/>
              <a:ea typeface="Cambria"/>
              <a:cs typeface="Cambria"/>
              <a:sym typeface="Cambria"/>
            </a:endParaRPr>
          </a:p>
          <a:p>
            <a:pPr indent="0" lvl="0" marL="0" rtl="0" algn="l">
              <a:spcBef>
                <a:spcPts val="0"/>
              </a:spcBef>
              <a:spcAft>
                <a:spcPts val="0"/>
              </a:spcAft>
              <a:buClr>
                <a:schemeClr val="dk1"/>
              </a:buClr>
              <a:buSzPts val="1100"/>
              <a:buFont typeface="Arial"/>
              <a:buNone/>
            </a:pPr>
            <a:r>
              <a:rPr lang="zh-TW">
                <a:solidFill>
                  <a:srgbClr val="555555"/>
                </a:solidFill>
                <a:latin typeface="Cambria"/>
                <a:ea typeface="Cambria"/>
                <a:cs typeface="Cambria"/>
                <a:sym typeface="Cambria"/>
              </a:rPr>
              <a:t>+ @@read_rnd_buffer_size</a:t>
            </a:r>
            <a:endParaRPr>
              <a:solidFill>
                <a:srgbClr val="555555"/>
              </a:solidFill>
              <a:latin typeface="Cambria"/>
              <a:ea typeface="Cambria"/>
              <a:cs typeface="Cambria"/>
              <a:sym typeface="Cambria"/>
            </a:endParaRPr>
          </a:p>
          <a:p>
            <a:pPr indent="0" lvl="0" marL="0" rtl="0" algn="l">
              <a:spcBef>
                <a:spcPts val="0"/>
              </a:spcBef>
              <a:spcAft>
                <a:spcPts val="0"/>
              </a:spcAft>
              <a:buClr>
                <a:schemeClr val="dk1"/>
              </a:buClr>
              <a:buSzPts val="1100"/>
              <a:buFont typeface="Arial"/>
              <a:buNone/>
            </a:pPr>
            <a:r>
              <a:rPr lang="zh-TW">
                <a:solidFill>
                  <a:srgbClr val="555555"/>
                </a:solidFill>
                <a:latin typeface="Cambria"/>
                <a:ea typeface="Cambria"/>
                <a:cs typeface="Cambria"/>
                <a:sym typeface="Cambria"/>
              </a:rPr>
              <a:t>+ @@sort_buffer_size</a:t>
            </a:r>
            <a:endParaRPr>
              <a:solidFill>
                <a:srgbClr val="555555"/>
              </a:solidFill>
              <a:latin typeface="Cambria"/>
              <a:ea typeface="Cambria"/>
              <a:cs typeface="Cambria"/>
              <a:sym typeface="Cambria"/>
            </a:endParaRPr>
          </a:p>
          <a:p>
            <a:pPr indent="0" lvl="0" marL="0" rtl="0" algn="l">
              <a:spcBef>
                <a:spcPts val="0"/>
              </a:spcBef>
              <a:spcAft>
                <a:spcPts val="0"/>
              </a:spcAft>
              <a:buClr>
                <a:schemeClr val="dk1"/>
              </a:buClr>
              <a:buSzPts val="1100"/>
              <a:buFont typeface="Arial"/>
              <a:buNone/>
            </a:pPr>
            <a:r>
              <a:rPr lang="zh-TW">
                <a:solidFill>
                  <a:srgbClr val="555555"/>
                </a:solidFill>
                <a:latin typeface="Cambria"/>
                <a:ea typeface="Cambria"/>
                <a:cs typeface="Cambria"/>
                <a:sym typeface="Cambria"/>
              </a:rPr>
              <a:t>+ @@join_buffer_size</a:t>
            </a:r>
            <a:endParaRPr>
              <a:solidFill>
                <a:srgbClr val="555555"/>
              </a:solidFill>
              <a:latin typeface="Cambria"/>
              <a:ea typeface="Cambria"/>
              <a:cs typeface="Cambria"/>
              <a:sym typeface="Cambria"/>
            </a:endParaRPr>
          </a:p>
          <a:p>
            <a:pPr indent="0" lvl="0" marL="0" rtl="0" algn="l">
              <a:spcBef>
                <a:spcPts val="0"/>
              </a:spcBef>
              <a:spcAft>
                <a:spcPts val="0"/>
              </a:spcAft>
              <a:buClr>
                <a:schemeClr val="dk1"/>
              </a:buClr>
              <a:buSzPts val="1100"/>
              <a:buFont typeface="Arial"/>
              <a:buNone/>
            </a:pPr>
            <a:r>
              <a:rPr lang="zh-TW">
                <a:solidFill>
                  <a:srgbClr val="555555"/>
                </a:solidFill>
                <a:latin typeface="Cambria"/>
                <a:ea typeface="Cambria"/>
                <a:cs typeface="Cambria"/>
                <a:sym typeface="Cambria"/>
              </a:rPr>
              <a:t>+ @@binlog_cache_size</a:t>
            </a:r>
            <a:endParaRPr>
              <a:solidFill>
                <a:srgbClr val="555555"/>
              </a:solidFill>
              <a:latin typeface="Cambria"/>
              <a:ea typeface="Cambria"/>
              <a:cs typeface="Cambria"/>
              <a:sym typeface="Cambria"/>
            </a:endParaRPr>
          </a:p>
          <a:p>
            <a:pPr indent="0" lvl="0" marL="0" rtl="0" algn="l">
              <a:spcBef>
                <a:spcPts val="0"/>
              </a:spcBef>
              <a:spcAft>
                <a:spcPts val="0"/>
              </a:spcAft>
              <a:buClr>
                <a:schemeClr val="dk1"/>
              </a:buClr>
              <a:buSzPts val="1100"/>
              <a:buFont typeface="Arial"/>
              <a:buNone/>
            </a:pPr>
            <a:r>
              <a:rPr lang="zh-TW">
                <a:solidFill>
                  <a:srgbClr val="555555"/>
                </a:solidFill>
                <a:latin typeface="Cambria"/>
                <a:ea typeface="Cambria"/>
                <a:cs typeface="Cambria"/>
                <a:sym typeface="Cambria"/>
              </a:rPr>
              <a:t>+ @@thread_stack</a:t>
            </a:r>
            <a:endParaRPr>
              <a:solidFill>
                <a:srgbClr val="555555"/>
              </a:solidFill>
              <a:latin typeface="Cambria"/>
              <a:ea typeface="Cambria"/>
              <a:cs typeface="Cambria"/>
              <a:sym typeface="Cambria"/>
            </a:endParaRPr>
          </a:p>
          <a:p>
            <a:pPr indent="0" lvl="0" marL="0" rtl="0" algn="l">
              <a:spcBef>
                <a:spcPts val="0"/>
              </a:spcBef>
              <a:spcAft>
                <a:spcPts val="0"/>
              </a:spcAft>
              <a:buClr>
                <a:schemeClr val="dk1"/>
              </a:buClr>
              <a:buSzPts val="1100"/>
              <a:buFont typeface="Arial"/>
              <a:buNone/>
            </a:pPr>
            <a:r>
              <a:rPr lang="zh-TW">
                <a:solidFill>
                  <a:srgbClr val="555555"/>
                </a:solidFill>
                <a:latin typeface="Cambria"/>
                <a:ea typeface="Cambria"/>
                <a:cs typeface="Cambria"/>
                <a:sym typeface="Cambria"/>
              </a:rPr>
              <a:t>+ @@tmp_table_size )</a:t>
            </a:r>
            <a:endParaRPr>
              <a:solidFill>
                <a:srgbClr val="555555"/>
              </a:solidFill>
              <a:latin typeface="Cambria"/>
              <a:ea typeface="Cambria"/>
              <a:cs typeface="Cambria"/>
              <a:sym typeface="Cambria"/>
            </a:endParaRPr>
          </a:p>
          <a:p>
            <a:pPr indent="0" lvl="0" marL="0" rtl="0" algn="l">
              <a:spcBef>
                <a:spcPts val="0"/>
              </a:spcBef>
              <a:spcAft>
                <a:spcPts val="0"/>
              </a:spcAft>
              <a:buNone/>
            </a:pPr>
            <a:r>
              <a:rPr lang="zh-TW">
                <a:solidFill>
                  <a:srgbClr val="555555"/>
                </a:solidFill>
                <a:latin typeface="Cambria"/>
                <a:ea typeface="Cambria"/>
                <a:cs typeface="Cambria"/>
                <a:sym typeface="Cambria"/>
              </a:rPr>
              <a:t>) / (1024 * 1024 * 1024) AS MAX_MEMORY_GB;</a:t>
            </a:r>
            <a:endParaRPr>
              <a:solidFill>
                <a:srgbClr val="555555"/>
              </a:solidFill>
              <a:latin typeface="Cambria"/>
              <a:ea typeface="Cambria"/>
              <a:cs typeface="Cambria"/>
              <a:sym typeface="Cambria"/>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2" name="Shape 422"/>
        <p:cNvGrpSpPr/>
        <p:nvPr/>
      </p:nvGrpSpPr>
      <p:grpSpPr>
        <a:xfrm>
          <a:off x="0" y="0"/>
          <a:ext cx="0" cy="0"/>
          <a:chOff x="0" y="0"/>
          <a:chExt cx="0" cy="0"/>
        </a:xfrm>
      </p:grpSpPr>
      <p:sp>
        <p:nvSpPr>
          <p:cNvPr id="423" name="Google Shape;423;p7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zh-TW"/>
              <a:t>key_buffer_size</a:t>
            </a:r>
            <a:endParaRPr/>
          </a:p>
        </p:txBody>
      </p:sp>
      <p:sp>
        <p:nvSpPr>
          <p:cNvPr id="424" name="Google Shape;424;p71"/>
          <p:cNvSpPr txBox="1"/>
          <p:nvPr>
            <p:ph idx="1" type="body"/>
          </p:nvPr>
        </p:nvSpPr>
        <p:spPr>
          <a:xfrm>
            <a:off x="311700" y="1225225"/>
            <a:ext cx="8520600" cy="33540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zh-TW"/>
              <a:t>只適用於 MyIsam</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zh-TW"/>
              <a:t>大小可動態設定做基準測試，只能是 4096 的倍數，官網建議可占用總記憶體的25%，太大可能影響其他快取功能。</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zh-TW"/>
              <a:t>計算使用中的 key buffer 比率 (建議 80%)</a:t>
            </a:r>
            <a:endParaRPr/>
          </a:p>
          <a:p>
            <a:pPr indent="0" lvl="0" marL="0" rtl="0" algn="l">
              <a:spcBef>
                <a:spcPts val="1200"/>
              </a:spcBef>
              <a:spcAft>
                <a:spcPts val="0"/>
              </a:spcAft>
              <a:buNone/>
            </a:pPr>
            <a:r>
              <a:rPr lang="zh-TW"/>
              <a:t>1 - ((Key_blocks_unused * key_cache_block_size) / key_buffer_size)</a:t>
            </a:r>
            <a:endParaRPr/>
          </a:p>
          <a:p>
            <a:pPr indent="0" lvl="0" marL="0" rtl="0" algn="l">
              <a:spcBef>
                <a:spcPts val="1200"/>
              </a:spcBef>
              <a:spcAft>
                <a:spcPts val="0"/>
              </a:spcAft>
              <a:buNone/>
            </a:pPr>
            <a:r>
              <a:t/>
            </a:r>
            <a:endParaRPr/>
          </a:p>
          <a:p>
            <a:pPr indent="0" lvl="0" marL="0" rtl="0" algn="l">
              <a:spcBef>
                <a:spcPts val="1200"/>
              </a:spcBef>
              <a:spcAft>
                <a:spcPts val="0"/>
              </a:spcAft>
              <a:buClr>
                <a:schemeClr val="dk1"/>
              </a:buClr>
              <a:buSzPct val="78571"/>
              <a:buFont typeface="Arial"/>
              <a:buNone/>
            </a:pPr>
            <a:r>
              <a:rPr lang="zh-TW"/>
              <a:t>快取未命中率: Key_reads/Key_read_requests 通常於 0.01 ～ 0.001 </a:t>
            </a:r>
            <a:endParaRPr/>
          </a:p>
          <a:p>
            <a:pPr indent="0" lvl="0" marL="0" rtl="0" algn="l">
              <a:spcBef>
                <a:spcPts val="1200"/>
              </a:spcBef>
              <a:spcAft>
                <a:spcPts val="0"/>
              </a:spcAft>
              <a:buClr>
                <a:schemeClr val="dk1"/>
              </a:buClr>
              <a:buSzPct val="78571"/>
              <a:buFont typeface="Arial"/>
              <a:buNone/>
            </a:pPr>
            <a:r>
              <a:rPr lang="zh-TW"/>
              <a:t>理論上這個數值越小越好，代表從快取就可以取得資料。</a:t>
            </a:r>
            <a:endParaRPr/>
          </a:p>
          <a:p>
            <a:pPr indent="0" lvl="0" marL="0" rtl="0" algn="l">
              <a:spcBef>
                <a:spcPts val="1200"/>
              </a:spcBef>
              <a:spcAft>
                <a:spcPts val="1200"/>
              </a:spcAft>
              <a:buClr>
                <a:schemeClr val="dk1"/>
              </a:buClr>
              <a:buSzPct val="78571"/>
              <a:buFont typeface="Arial"/>
              <a:buNone/>
            </a:pPr>
            <a:r>
              <a:rPr lang="zh-TW"/>
              <a:t>更新率: Key_writes/Key_write_requests 如果是大量更新可能會接近 1</a:t>
            </a:r>
            <a:endParaRPr/>
          </a:p>
        </p:txBody>
      </p:sp>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